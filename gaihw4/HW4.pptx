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84" r:id="rId5"/>
    <p:sldId id="274" r:id="rId6"/>
    <p:sldId id="285" r:id="rId7"/>
    <p:sldId id="286" r:id="rId8"/>
    <p:sldId id="293" r:id="rId9"/>
    <p:sldId id="260" r:id="rId10"/>
    <p:sldId id="276" r:id="rId11"/>
    <p:sldId id="283" r:id="rId12"/>
    <p:sldId id="287" r:id="rId13"/>
    <p:sldId id="280" r:id="rId14"/>
    <p:sldId id="289" r:id="rId15"/>
    <p:sldId id="294" r:id="rId16"/>
    <p:sldId id="291" r:id="rId17"/>
    <p:sldId id="295" r:id="rId18"/>
    <p:sldId id="296" r:id="rId19"/>
    <p:sldId id="297" r:id="rId20"/>
    <p:sldId id="298" r:id="rId21"/>
    <p:sldId id="299" r:id="rId22"/>
    <p:sldId id="292" r:id="rId23"/>
    <p:sldId id="300" r:id="rId24"/>
    <p:sldId id="301" r:id="rId25"/>
    <p:sldId id="302" r:id="rId26"/>
    <p:sldId id="273" r:id="rId27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C133"/>
    <a:srgbClr val="8103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31af288f89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31af288f89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7cf433bb9a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7cf433bb9a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7cf433bb9a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7cf433bb9a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7cf433bb9a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7cf433bb9a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7cf433bb9a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7cf433bb9a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cf433bb9a_0_1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cf433bb9a_0_1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31af288f89_0_1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31af288f89_0_1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1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4141177"/>
            <a:ext cx="9144000" cy="1002300"/>
          </a:xfrm>
          <a:prstGeom prst="rect">
            <a:avLst/>
          </a:prstGeom>
          <a:solidFill>
            <a:srgbClr val="052E6E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7892187" y="4236117"/>
            <a:ext cx="13767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6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NYCU</a:t>
            </a:r>
            <a:endParaRPr sz="26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1143000" y="2525591"/>
            <a:ext cx="6858000" cy="0"/>
          </a:xfrm>
          <a:prstGeom prst="straightConnector1">
            <a:avLst/>
          </a:prstGeom>
          <a:noFill/>
          <a:ln w="57150" cap="flat" cmpd="sng">
            <a:solidFill>
              <a:srgbClr val="5B9BD5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15" name="Google Shape;15;p2"/>
          <p:cNvSpPr txBox="1"/>
          <p:nvPr>
            <p:ph type="ctrTitle"/>
          </p:nvPr>
        </p:nvSpPr>
        <p:spPr>
          <a:xfrm>
            <a:off x="1143000" y="445033"/>
            <a:ext cx="6858000" cy="17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 panose="020F0502020204030204"/>
              <a:buNone/>
              <a:defRPr sz="3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type="subTitle" idx="1"/>
          </p:nvPr>
        </p:nvSpPr>
        <p:spPr>
          <a:xfrm>
            <a:off x="1143000" y="3028486"/>
            <a:ext cx="68580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7" name="Google Shape;17;p2"/>
          <p:cNvSpPr txBox="1"/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type="sldNum" idx="12"/>
          </p:nvPr>
        </p:nvSpPr>
        <p:spPr>
          <a:xfrm>
            <a:off x="6979540" y="476721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  <p:grpSp>
        <p:nvGrpSpPr>
          <p:cNvPr id="20" name="Google Shape;20;p2"/>
          <p:cNvGrpSpPr/>
          <p:nvPr/>
        </p:nvGrpSpPr>
        <p:grpSpPr>
          <a:xfrm>
            <a:off x="8010115" y="102394"/>
            <a:ext cx="1140750" cy="985428"/>
            <a:chOff x="10680153" y="136525"/>
            <a:chExt cx="1521000" cy="1313904"/>
          </a:xfrm>
        </p:grpSpPr>
        <p:pic>
          <p:nvPicPr>
            <p:cNvPr id="21" name="Google Shape;21;p2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832124" y="136525"/>
              <a:ext cx="1217128" cy="913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2"/>
            <p:cNvSpPr/>
            <p:nvPr/>
          </p:nvSpPr>
          <p:spPr>
            <a:xfrm>
              <a:off x="10680153" y="1050229"/>
              <a:ext cx="152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 b="0" i="0" u="none" strike="noStrike" cap="none">
                  <a:solidFill>
                    <a:srgbClr val="052E6E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BASIC LAB</a:t>
              </a:r>
              <a:endParaRPr sz="1500" b="0" i="0" u="none" strike="noStrike" cap="none">
                <a:solidFill>
                  <a:srgbClr val="052E6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3" name="Google Shape;23;p2"/>
          <p:cNvSpPr/>
          <p:nvPr/>
        </p:nvSpPr>
        <p:spPr>
          <a:xfrm>
            <a:off x="7026313" y="2208989"/>
            <a:ext cx="652800" cy="652800"/>
          </a:xfrm>
          <a:prstGeom prst="ellipse">
            <a:avLst/>
          </a:prstGeom>
          <a:solidFill>
            <a:srgbClr val="F0DF8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8844689" y="4804263"/>
            <a:ext cx="199800" cy="19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2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3357314"/>
            <a:ext cx="1786186" cy="178618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/>
          <p:nvPr/>
        </p:nvSpPr>
        <p:spPr>
          <a:xfrm>
            <a:off x="6457950" y="0"/>
            <a:ext cx="2686200" cy="5143500"/>
          </a:xfrm>
          <a:prstGeom prst="rect">
            <a:avLst/>
          </a:prstGeom>
          <a:solidFill>
            <a:srgbClr val="052E6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424317" y="4567660"/>
            <a:ext cx="13767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6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NYCU</a:t>
            </a:r>
            <a:endParaRPr sz="26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" name="Google Shape;29;p3"/>
          <p:cNvSpPr txBox="1"/>
          <p:nvPr>
            <p:ph type="title"/>
          </p:nvPr>
        </p:nvSpPr>
        <p:spPr>
          <a:xfrm>
            <a:off x="628650" y="273844"/>
            <a:ext cx="54864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 panose="020F0502020204030204"/>
              <a:buNone/>
              <a:defRPr sz="3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type="body" idx="1"/>
          </p:nvPr>
        </p:nvSpPr>
        <p:spPr>
          <a:xfrm>
            <a:off x="628650" y="1734283"/>
            <a:ext cx="5486400" cy="28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746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 panose="020B0604020202020204"/>
              <a:buChar char="•"/>
              <a:defRPr sz="2300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type="sldNum" idx="12"/>
          </p:nvPr>
        </p:nvSpPr>
        <p:spPr>
          <a:xfrm>
            <a:off x="6981415" y="476721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  <p:grpSp>
        <p:nvGrpSpPr>
          <p:cNvPr id="34" name="Google Shape;34;p3"/>
          <p:cNvGrpSpPr/>
          <p:nvPr/>
        </p:nvGrpSpPr>
        <p:grpSpPr>
          <a:xfrm>
            <a:off x="8010115" y="102394"/>
            <a:ext cx="1140750" cy="985428"/>
            <a:chOff x="10680153" y="136525"/>
            <a:chExt cx="1521000" cy="1313904"/>
          </a:xfrm>
        </p:grpSpPr>
        <p:pic>
          <p:nvPicPr>
            <p:cNvPr id="35" name="Google Shape;35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0832124" y="136525"/>
              <a:ext cx="1217128" cy="9137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" name="Google Shape;36;p3"/>
            <p:cNvSpPr/>
            <p:nvPr/>
          </p:nvSpPr>
          <p:spPr>
            <a:xfrm>
              <a:off x="10680153" y="1050229"/>
              <a:ext cx="152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 b="0" i="0" u="none" strike="noStrike" cap="none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BASIC LAB</a:t>
              </a:r>
              <a:endParaRPr sz="15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cxnSp>
        <p:nvCxnSpPr>
          <p:cNvPr id="37" name="Google Shape;37;p3"/>
          <p:cNvCxnSpPr/>
          <p:nvPr/>
        </p:nvCxnSpPr>
        <p:spPr>
          <a:xfrm>
            <a:off x="628650" y="1417210"/>
            <a:ext cx="3578400" cy="0"/>
          </a:xfrm>
          <a:prstGeom prst="straightConnector1">
            <a:avLst/>
          </a:prstGeom>
          <a:noFill/>
          <a:ln w="5715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38" name="Google Shape;38;p3"/>
          <p:cNvSpPr/>
          <p:nvPr/>
        </p:nvSpPr>
        <p:spPr>
          <a:xfrm>
            <a:off x="8844689" y="4804263"/>
            <a:ext cx="199800" cy="19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3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4"/>
          <p:cNvGrpSpPr/>
          <p:nvPr/>
        </p:nvGrpSpPr>
        <p:grpSpPr>
          <a:xfrm>
            <a:off x="7357814" y="1604610"/>
            <a:ext cx="1786187" cy="3538890"/>
            <a:chOff x="9810418" y="2139480"/>
            <a:chExt cx="2381582" cy="4718520"/>
          </a:xfrm>
        </p:grpSpPr>
        <p:pic>
          <p:nvPicPr>
            <p:cNvPr id="41" name="Google Shape;41;p4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10800000">
              <a:off x="9810418" y="4476418"/>
              <a:ext cx="2381582" cy="2381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4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-5400000">
              <a:off x="9810418" y="2139480"/>
              <a:ext cx="2381582" cy="23815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" name="Google Shape;43;p4"/>
          <p:cNvSpPr/>
          <p:nvPr/>
        </p:nvSpPr>
        <p:spPr>
          <a:xfrm>
            <a:off x="0" y="0"/>
            <a:ext cx="456900" cy="5189700"/>
          </a:xfrm>
          <a:prstGeom prst="rect">
            <a:avLst/>
          </a:prstGeom>
          <a:solidFill>
            <a:srgbClr val="052E6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" name="Google Shape;44;p4"/>
          <p:cNvSpPr/>
          <p:nvPr/>
        </p:nvSpPr>
        <p:spPr>
          <a:xfrm rot="2452996">
            <a:off x="7617473" y="4186771"/>
            <a:ext cx="1376658" cy="47320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52E6E"/>
                </a:solidFill>
                <a:latin typeface="Calibri" panose="020F0502020204030204"/>
              </a:rPr>
              <a:t>NYCU</a:t>
            </a:r>
            <a:endParaRPr b="0" i="0">
              <a:ln>
                <a:noFill/>
              </a:ln>
              <a:solidFill>
                <a:srgbClr val="052E6E"/>
              </a:solidFill>
              <a:latin typeface="Calibri" panose="020F0502020204030204"/>
            </a:endParaRPr>
          </a:p>
        </p:txBody>
      </p:sp>
      <p:cxnSp>
        <p:nvCxnSpPr>
          <p:cNvPr id="45" name="Google Shape;45;p4"/>
          <p:cNvCxnSpPr/>
          <p:nvPr/>
        </p:nvCxnSpPr>
        <p:spPr>
          <a:xfrm>
            <a:off x="6357161" y="1268016"/>
            <a:ext cx="2793900" cy="0"/>
          </a:xfrm>
          <a:prstGeom prst="straightConnector1">
            <a:avLst/>
          </a:prstGeom>
          <a:noFill/>
          <a:ln w="5715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46" name="Google Shape;46;p4"/>
          <p:cNvSpPr txBox="1"/>
          <p:nvPr>
            <p:ph type="title"/>
          </p:nvPr>
        </p:nvSpPr>
        <p:spPr>
          <a:xfrm>
            <a:off x="628650" y="273844"/>
            <a:ext cx="73173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 panose="020F0502020204030204"/>
              <a:buNone/>
              <a:defRPr sz="3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4"/>
          <p:cNvSpPr txBox="1"/>
          <p:nvPr>
            <p:ph type="sldNum" idx="12"/>
          </p:nvPr>
        </p:nvSpPr>
        <p:spPr>
          <a:xfrm>
            <a:off x="698141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  <p:grpSp>
        <p:nvGrpSpPr>
          <p:cNvPr id="50" name="Google Shape;50;p4"/>
          <p:cNvGrpSpPr/>
          <p:nvPr/>
        </p:nvGrpSpPr>
        <p:grpSpPr>
          <a:xfrm>
            <a:off x="8010115" y="102394"/>
            <a:ext cx="1140750" cy="985428"/>
            <a:chOff x="10680153" y="136525"/>
            <a:chExt cx="1521000" cy="1313904"/>
          </a:xfrm>
        </p:grpSpPr>
        <p:pic>
          <p:nvPicPr>
            <p:cNvPr id="51" name="Google Shape;51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0832124" y="136525"/>
              <a:ext cx="1217128" cy="913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" name="Google Shape;52;p4"/>
            <p:cNvSpPr/>
            <p:nvPr/>
          </p:nvSpPr>
          <p:spPr>
            <a:xfrm>
              <a:off x="10680153" y="1050229"/>
              <a:ext cx="152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 b="0" i="0" u="none" strike="noStrike" cap="none">
                  <a:solidFill>
                    <a:srgbClr val="052E6E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BASIC LAB</a:t>
              </a:r>
              <a:endParaRPr sz="1500" b="0" i="0" u="none" strike="noStrike" cap="none">
                <a:solidFill>
                  <a:srgbClr val="052E6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53" name="Google Shape;53;p4"/>
          <p:cNvSpPr/>
          <p:nvPr/>
        </p:nvSpPr>
        <p:spPr>
          <a:xfrm>
            <a:off x="8844689" y="4804263"/>
            <a:ext cx="199800" cy="19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5"/>
          <p:cNvGrpSpPr/>
          <p:nvPr/>
        </p:nvGrpSpPr>
        <p:grpSpPr>
          <a:xfrm>
            <a:off x="7390580" y="3765628"/>
            <a:ext cx="1753420" cy="876711"/>
            <a:chOff x="9854106" y="5020837"/>
            <a:chExt cx="2337894" cy="1168948"/>
          </a:xfrm>
        </p:grpSpPr>
        <p:pic>
          <p:nvPicPr>
            <p:cNvPr id="56" name="Google Shape;56;p5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-5400000">
              <a:off x="9854106" y="5020837"/>
              <a:ext cx="1168947" cy="11689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5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1023053" y="5020838"/>
              <a:ext cx="1168947" cy="11689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" name="Google Shape;58;p5"/>
          <p:cNvSpPr/>
          <p:nvPr/>
        </p:nvSpPr>
        <p:spPr>
          <a:xfrm>
            <a:off x="0" y="4642339"/>
            <a:ext cx="9150900" cy="501300"/>
          </a:xfrm>
          <a:prstGeom prst="rect">
            <a:avLst/>
          </a:prstGeom>
          <a:solidFill>
            <a:srgbClr val="052E6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-59679" y="4169132"/>
            <a:ext cx="13767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600" b="0" i="0" u="none" strike="noStrike" cap="none">
                <a:solidFill>
                  <a:srgbClr val="052E6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NYCU</a:t>
            </a:r>
            <a:endParaRPr sz="2600" b="0" i="0" u="none" strike="noStrike" cap="none">
              <a:solidFill>
                <a:srgbClr val="052E6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628650" y="257176"/>
            <a:ext cx="73173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 panose="020F0502020204030204"/>
              <a:buNone/>
              <a:defRPr sz="3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type="sldNum" idx="12"/>
          </p:nvPr>
        </p:nvSpPr>
        <p:spPr>
          <a:xfrm>
            <a:off x="698141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  <p:grpSp>
        <p:nvGrpSpPr>
          <p:cNvPr id="64" name="Google Shape;64;p5"/>
          <p:cNvGrpSpPr/>
          <p:nvPr/>
        </p:nvGrpSpPr>
        <p:grpSpPr>
          <a:xfrm>
            <a:off x="8010115" y="102394"/>
            <a:ext cx="1140750" cy="985428"/>
            <a:chOff x="10680153" y="136525"/>
            <a:chExt cx="1521000" cy="1313904"/>
          </a:xfrm>
        </p:grpSpPr>
        <p:pic>
          <p:nvPicPr>
            <p:cNvPr id="65" name="Google Shape;65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0832124" y="136525"/>
              <a:ext cx="1217128" cy="913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5"/>
            <p:cNvSpPr/>
            <p:nvPr/>
          </p:nvSpPr>
          <p:spPr>
            <a:xfrm>
              <a:off x="10680153" y="1050229"/>
              <a:ext cx="152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 b="0" i="0" u="none" strike="noStrike" cap="none">
                  <a:solidFill>
                    <a:srgbClr val="052E6E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BASIC LAB</a:t>
              </a:r>
              <a:endParaRPr sz="1500" b="0" i="0" u="none" strike="noStrike" cap="none">
                <a:solidFill>
                  <a:srgbClr val="052E6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cxnSp>
        <p:nvCxnSpPr>
          <p:cNvPr id="67" name="Google Shape;67;p5"/>
          <p:cNvCxnSpPr/>
          <p:nvPr/>
        </p:nvCxnSpPr>
        <p:spPr>
          <a:xfrm>
            <a:off x="0" y="257175"/>
            <a:ext cx="8010000" cy="0"/>
          </a:xfrm>
          <a:prstGeom prst="straightConnector1">
            <a:avLst/>
          </a:prstGeom>
          <a:noFill/>
          <a:ln w="5715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68" name="Google Shape;68;p5"/>
          <p:cNvSpPr/>
          <p:nvPr/>
        </p:nvSpPr>
        <p:spPr>
          <a:xfrm>
            <a:off x="8844689" y="4804263"/>
            <a:ext cx="199800" cy="19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">
  <p:cSld name="5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/>
          <p:nvPr/>
        </p:nvSpPr>
        <p:spPr>
          <a:xfrm>
            <a:off x="7567904" y="4289630"/>
            <a:ext cx="13767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600" b="0" i="0" u="none" strike="noStrike" cap="none">
                <a:solidFill>
                  <a:srgbClr val="052E6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NYCU</a:t>
            </a:r>
            <a:endParaRPr sz="2600" b="0" i="0" u="none" strike="noStrike" cap="none">
              <a:solidFill>
                <a:srgbClr val="052E6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" name="Google Shape;71;p6"/>
          <p:cNvSpPr txBox="1"/>
          <p:nvPr>
            <p:ph type="title"/>
          </p:nvPr>
        </p:nvSpPr>
        <p:spPr>
          <a:xfrm>
            <a:off x="628650" y="257176"/>
            <a:ext cx="73173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 panose="020F0502020204030204"/>
              <a:buNone/>
              <a:defRPr sz="3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6"/>
          <p:cNvSpPr txBox="1"/>
          <p:nvPr>
            <p:ph type="sldNum" idx="12"/>
          </p:nvPr>
        </p:nvSpPr>
        <p:spPr>
          <a:xfrm>
            <a:off x="698141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  <p:grpSp>
        <p:nvGrpSpPr>
          <p:cNvPr id="75" name="Google Shape;75;p6"/>
          <p:cNvGrpSpPr/>
          <p:nvPr/>
        </p:nvGrpSpPr>
        <p:grpSpPr>
          <a:xfrm>
            <a:off x="8010115" y="102394"/>
            <a:ext cx="1140750" cy="985428"/>
            <a:chOff x="10680153" y="136525"/>
            <a:chExt cx="1521000" cy="1313904"/>
          </a:xfrm>
        </p:grpSpPr>
        <p:pic>
          <p:nvPicPr>
            <p:cNvPr id="76" name="Google Shape;76;p6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832124" y="136525"/>
              <a:ext cx="1217128" cy="913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" name="Google Shape;77;p6"/>
            <p:cNvSpPr/>
            <p:nvPr/>
          </p:nvSpPr>
          <p:spPr>
            <a:xfrm>
              <a:off x="10680153" y="1050229"/>
              <a:ext cx="152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 b="0" i="0" u="none" strike="noStrike" cap="none">
                  <a:solidFill>
                    <a:srgbClr val="052E6E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BASIC LAB</a:t>
              </a:r>
              <a:endParaRPr sz="1500" b="0" i="0" u="none" strike="noStrike" cap="none">
                <a:solidFill>
                  <a:srgbClr val="052E6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cxnSp>
        <p:nvCxnSpPr>
          <p:cNvPr id="78" name="Google Shape;78;p6"/>
          <p:cNvCxnSpPr/>
          <p:nvPr/>
        </p:nvCxnSpPr>
        <p:spPr>
          <a:xfrm>
            <a:off x="339571" y="257175"/>
            <a:ext cx="7670400" cy="0"/>
          </a:xfrm>
          <a:prstGeom prst="straightConnector1">
            <a:avLst/>
          </a:prstGeom>
          <a:noFill/>
          <a:ln w="5715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79" name="Google Shape;79;p6"/>
          <p:cNvSpPr/>
          <p:nvPr/>
        </p:nvSpPr>
        <p:spPr>
          <a:xfrm>
            <a:off x="2804788" y="802271"/>
            <a:ext cx="3534300" cy="3534300"/>
          </a:xfrm>
          <a:prstGeom prst="ellipse">
            <a:avLst/>
          </a:prstGeom>
          <a:solidFill>
            <a:srgbClr val="F0DF8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80" name="Google Shape;80;p6"/>
          <p:cNvCxnSpPr/>
          <p:nvPr/>
        </p:nvCxnSpPr>
        <p:spPr>
          <a:xfrm rot="10800000">
            <a:off x="339571" y="214732"/>
            <a:ext cx="0" cy="4612500"/>
          </a:xfrm>
          <a:prstGeom prst="straightConnector1">
            <a:avLst/>
          </a:prstGeom>
          <a:noFill/>
          <a:ln w="5715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</p:cxnSp>
      <p:cxnSp>
        <p:nvCxnSpPr>
          <p:cNvPr id="81" name="Google Shape;81;p6"/>
          <p:cNvCxnSpPr/>
          <p:nvPr/>
        </p:nvCxnSpPr>
        <p:spPr>
          <a:xfrm>
            <a:off x="339571" y="4805826"/>
            <a:ext cx="8376000" cy="0"/>
          </a:xfrm>
          <a:prstGeom prst="straightConnector1">
            <a:avLst/>
          </a:prstGeom>
          <a:noFill/>
          <a:ln w="5715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</p:cxnSp>
      <p:cxnSp>
        <p:nvCxnSpPr>
          <p:cNvPr id="82" name="Google Shape;82;p6"/>
          <p:cNvCxnSpPr/>
          <p:nvPr/>
        </p:nvCxnSpPr>
        <p:spPr>
          <a:xfrm rot="10800000">
            <a:off x="8808872" y="1087731"/>
            <a:ext cx="0" cy="3739500"/>
          </a:xfrm>
          <a:prstGeom prst="straightConnector1">
            <a:avLst/>
          </a:prstGeom>
          <a:noFill/>
          <a:ln w="5715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83" name="Google Shape;83;p6"/>
          <p:cNvSpPr/>
          <p:nvPr/>
        </p:nvSpPr>
        <p:spPr>
          <a:xfrm>
            <a:off x="8844689" y="4804263"/>
            <a:ext cx="199800" cy="199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3786121" y="4336694"/>
            <a:ext cx="1571700" cy="195300"/>
          </a:xfrm>
          <a:prstGeom prst="rect">
            <a:avLst/>
          </a:prstGeom>
          <a:solidFill>
            <a:srgbClr val="052E6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">
  <p:cSld name="6">
    <p:bg>
      <p:bgPr>
        <a:solidFill>
          <a:srgbClr val="052E6E"/>
        </a:solidFill>
        <a:effectLst/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Google Shape;86;p7"/>
          <p:cNvCxnSpPr/>
          <p:nvPr/>
        </p:nvCxnSpPr>
        <p:spPr>
          <a:xfrm>
            <a:off x="2057400" y="1459229"/>
            <a:ext cx="5029200" cy="0"/>
          </a:xfrm>
          <a:prstGeom prst="straightConnector1">
            <a:avLst/>
          </a:prstGeom>
          <a:noFill/>
          <a:ln w="5715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</p:cxnSp>
      <p:pic>
        <p:nvPicPr>
          <p:cNvPr id="87" name="Google Shape;87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-5400000">
            <a:off x="7479184" y="3478684"/>
            <a:ext cx="1664816" cy="166481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7"/>
          <p:cNvSpPr txBox="1"/>
          <p:nvPr>
            <p:ph type="title"/>
          </p:nvPr>
        </p:nvSpPr>
        <p:spPr>
          <a:xfrm>
            <a:off x="913300" y="263923"/>
            <a:ext cx="73173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 panose="020F0502020204030204"/>
              <a:buNone/>
              <a:defRPr sz="34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7"/>
          <p:cNvSpPr txBox="1"/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7"/>
          <p:cNvSpPr txBox="1"/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7"/>
          <p:cNvSpPr txBox="1"/>
          <p:nvPr>
            <p:ph type="sldNum" idx="12"/>
          </p:nvPr>
        </p:nvSpPr>
        <p:spPr>
          <a:xfrm>
            <a:off x="698141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  <p:pic>
        <p:nvPicPr>
          <p:cNvPr id="92" name="Google Shape;92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124093" y="102394"/>
            <a:ext cx="912847" cy="68527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7"/>
          <p:cNvSpPr/>
          <p:nvPr/>
        </p:nvSpPr>
        <p:spPr>
          <a:xfrm>
            <a:off x="8010115" y="787672"/>
            <a:ext cx="1140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0" i="0" u="none" strike="noStrike" cap="none">
                <a:solidFill>
                  <a:srgbClr val="052E6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BASIC LAB</a:t>
            </a:r>
            <a:endParaRPr sz="1500" b="0" i="0" u="none" strike="noStrike" cap="none">
              <a:solidFill>
                <a:srgbClr val="052E6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94" name="Google Shape;94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5400000">
            <a:off x="0" y="0"/>
            <a:ext cx="1664816" cy="16648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7"/>
          <p:cNvGrpSpPr/>
          <p:nvPr/>
        </p:nvGrpSpPr>
        <p:grpSpPr>
          <a:xfrm>
            <a:off x="3691146" y="3244142"/>
            <a:ext cx="1763447" cy="1523340"/>
            <a:chOff x="10680153" y="136526"/>
            <a:chExt cx="1521000" cy="1313904"/>
          </a:xfrm>
        </p:grpSpPr>
        <p:pic>
          <p:nvPicPr>
            <p:cNvPr id="96" name="Google Shape;96;p7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10832124" y="136526"/>
              <a:ext cx="1217128" cy="9137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7"/>
            <p:cNvSpPr/>
            <p:nvPr/>
          </p:nvSpPr>
          <p:spPr>
            <a:xfrm>
              <a:off x="10680153" y="1050230"/>
              <a:ext cx="152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 b="0" i="0" u="none" strike="noStrike" cap="none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BASIC LAB</a:t>
              </a:r>
              <a:endParaRPr sz="15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98" name="Google Shape;98;p7"/>
          <p:cNvSpPr txBox="1"/>
          <p:nvPr>
            <p:ph type="body" idx="1"/>
          </p:nvPr>
        </p:nvSpPr>
        <p:spPr>
          <a:xfrm>
            <a:off x="628650" y="1969676"/>
            <a:ext cx="7886700" cy="9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9" name="Google Shape;99;p7"/>
          <p:cNvSpPr/>
          <p:nvPr/>
        </p:nvSpPr>
        <p:spPr>
          <a:xfrm rot="-839516">
            <a:off x="8047556" y="3352070"/>
            <a:ext cx="1376659" cy="47320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lt1"/>
                </a:solidFill>
                <a:latin typeface="Calibri" panose="020F0502020204030204"/>
              </a:rPr>
              <a:t>NYCU</a:t>
            </a:r>
            <a:endParaRPr b="0" i="0">
              <a:ln>
                <a:noFill/>
              </a:ln>
              <a:solidFill>
                <a:schemeClr val="lt1"/>
              </a:solidFill>
              <a:latin typeface="Calibri" panose="020F0502020204030204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8844689" y="4804263"/>
            <a:ext cx="199800" cy="19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8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29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2385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04" name="Google Shape;10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 panose="020F0502020204030204"/>
              <a:buNone/>
              <a:defRPr sz="3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 txBox="1"/>
          <p:nvPr>
            <p:ph type="ctrTitle"/>
          </p:nvPr>
        </p:nvSpPr>
        <p:spPr>
          <a:xfrm>
            <a:off x="1143000" y="445033"/>
            <a:ext cx="6858000" cy="1744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200"/>
              <a:t>NYCU Generative Artificial Intelligence Homework 4 - Crawling Releases</a:t>
            </a:r>
            <a:endParaRPr lang="en-US" altLang="en-US" sz="3200"/>
          </a:p>
        </p:txBody>
      </p:sp>
      <p:sp>
        <p:nvSpPr>
          <p:cNvPr id="110" name="Google Shape;110;p9"/>
          <p:cNvSpPr txBox="1"/>
          <p:nvPr>
            <p:ph type="subTitle" idx="1"/>
          </p:nvPr>
        </p:nvSpPr>
        <p:spPr>
          <a:xfrm>
            <a:off x="1143000" y="2706370"/>
            <a:ext cx="6858000" cy="135001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CN" altLang="en-US"/>
              <a:t>繳交期限: 2026/05/</a:t>
            </a:r>
            <a:r>
              <a:rPr lang="en-US" altLang="zh-CN"/>
              <a:t>19</a:t>
            </a:r>
            <a:r>
              <a:rPr lang="zh-CN" altLang="en-US"/>
              <a:t> 23:59</a:t>
            </a:r>
            <a:endParaRPr lang="zh-CN" altLang="en-US"/>
          </a:p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en-US"/>
              <a:t>TA Hour: </a:t>
            </a:r>
            <a:r>
              <a:rPr lang="zh-CN" altLang="en-US"/>
              <a:t>週四 15:00~16:</a:t>
            </a:r>
            <a:r>
              <a:rPr lang="en-US" altLang="zh-CN"/>
              <a:t>0</a:t>
            </a:r>
            <a:r>
              <a:rPr lang="zh-CN" altLang="en-US"/>
              <a:t>0</a:t>
            </a:r>
            <a:endParaRPr lang="zh-CN" altLang="en-US"/>
          </a:p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en-US"/>
              <a:t>TA Email: dragonfruit11311@gmail.com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en-US" altLang="zh-CN"/>
              <a:t>Outline</a:t>
            </a:r>
            <a:endParaRPr lang="en-US" altLang="zh-CN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628650" y="1734185"/>
            <a:ext cx="2102485" cy="2898140"/>
          </a:xfrm>
        </p:spPr>
        <p:txBody>
          <a:bodyPr/>
          <a:p>
            <a:r>
              <a:rPr lang="zh-CN" altLang="en-US"/>
              <a:t>目標</a:t>
            </a:r>
            <a:endParaRPr lang="zh-CN" altLang="en-US"/>
          </a:p>
          <a:p>
            <a:r>
              <a:rPr lang="en-US" altLang="en-US"/>
              <a:t>Crawl</a:t>
            </a:r>
            <a:endParaRPr lang="en-US" altLang="en-US"/>
          </a:p>
          <a:p>
            <a:r>
              <a:rPr lang="en-US" altLang="en-US"/>
              <a:t>Push</a:t>
            </a:r>
            <a:endParaRPr lang="en-US" altLang="en-US"/>
          </a:p>
          <a:p>
            <a:r>
              <a:rPr lang="en-US" altLang="en-US"/>
              <a:t>Popular</a:t>
            </a:r>
            <a:endParaRPr lang="en-US" altLang="en-US"/>
          </a:p>
          <a:p>
            <a:r>
              <a:rPr lang="en-US" altLang="en-US"/>
              <a:t>Keyword</a:t>
            </a:r>
            <a:endParaRPr lang="en-US" altLang="en-US"/>
          </a:p>
          <a:p>
            <a:r>
              <a:rPr lang="zh-CN" altLang="en-US"/>
              <a:t>繳交內容</a:t>
            </a:r>
            <a:endParaRPr lang="zh-CN" altLang="en-US"/>
          </a:p>
        </p:txBody>
      </p:sp>
      <p:sp>
        <p:nvSpPr>
          <p:cNvPr id="4" name="文本占位符 2"/>
          <p:cNvSpPr/>
          <p:nvPr/>
        </p:nvSpPr>
        <p:spPr>
          <a:xfrm>
            <a:off x="3129915" y="1734185"/>
            <a:ext cx="2102485" cy="289814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 panose="020B0604020202020204"/>
              <a:buChar char="•"/>
              <a:defRPr sz="2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zh-TW" altLang="en-US"/>
              <a:t>配分</a:t>
            </a:r>
            <a:endParaRPr lang="zh-TW" altLang="en-US"/>
          </a:p>
          <a:p>
            <a:r>
              <a:rPr lang="zh-TW" altLang="en-US"/>
              <a:t>對比工具</a:t>
            </a:r>
            <a:endParaRPr lang="zh-TW" altLang="en-US"/>
          </a:p>
          <a:p>
            <a:r>
              <a:rPr lang="en-US" altLang="zh-TW"/>
              <a:t>Note</a:t>
            </a:r>
            <a:endParaRPr lang="en-US" altLang="zh-TW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"/>
          <p:cNvSpPr txBox="1"/>
          <p:nvPr>
            <p:ph type="title"/>
          </p:nvPr>
        </p:nvSpPr>
        <p:spPr>
          <a:xfrm>
            <a:off x="891540" y="273685"/>
            <a:ext cx="7054215" cy="99441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000">
                <a:latin typeface="Calibri" panose="020F0502020204030204" charset="0"/>
                <a:ea typeface="標楷體" panose="03000509000000000000" charset="-120"/>
                <a:cs typeface="Calibri" panose="020F0502020204030204" charset="0"/>
              </a:rPr>
              <a:t>目標</a:t>
            </a:r>
            <a:endParaRPr lang="zh-CN" altLang="en-US" sz="4000">
              <a:latin typeface="Calibri" panose="020F0502020204030204" charset="0"/>
              <a:ea typeface="標楷體" panose="03000509000000000000" charset="-120"/>
              <a:cs typeface="Calibri" panose="020F0502020204030204" charset="0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842010" y="1149350"/>
            <a:ext cx="7552690" cy="387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爬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PTT Stock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板2025一整年的文章，2025年的第一篇文章為 [心得] 2024年報 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https://www.ptt.cc/bbs/Stock/M.1735671336.A.BD5.html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。</a:t>
            </a:r>
            <a:endParaRPr lang="en-US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需要繳交一份 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python 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腳本，檔名為 {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student_id}.py，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支援四種命令列介面功能：</a:t>
            </a:r>
            <a:endParaRPr lang="en-US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1.Crawl                          2.Push                          3.Popular                       4.Keyword</a:t>
            </a:r>
            <a:endParaRPr lang="en-US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3730" y="1944370"/>
            <a:ext cx="5429885" cy="22840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"/>
          <p:cNvSpPr txBox="1"/>
          <p:nvPr>
            <p:ph type="title"/>
          </p:nvPr>
        </p:nvSpPr>
        <p:spPr>
          <a:xfrm>
            <a:off x="891540" y="273685"/>
            <a:ext cx="7054215" cy="99441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4000">
                <a:latin typeface="Calibri" panose="020F0502020204030204" charset="0"/>
                <a:ea typeface="標楷體" panose="03000509000000000000" charset="-120"/>
                <a:cs typeface="Calibri" panose="020F0502020204030204" charset="0"/>
              </a:rPr>
              <a:t>Crawl</a:t>
            </a:r>
            <a:endParaRPr lang="en-US" altLang="en-US" sz="4000">
              <a:latin typeface="Calibri" panose="020F0502020204030204" charset="0"/>
              <a:ea typeface="標楷體" panose="03000509000000000000" charset="-120"/>
              <a:cs typeface="Calibri" panose="020F0502020204030204" charset="0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1079100" y="1142665"/>
            <a:ext cx="6985800" cy="308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功能：</a:t>
            </a:r>
            <a:endParaRPr lang="en-US" altLang="en-US" sz="180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4064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爬2025年所有</a:t>
            </a:r>
            <a:r>
              <a:rPr lang="en-US" altLang="zh-CN" sz="180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Stock</a:t>
            </a:r>
            <a:r>
              <a:rPr lang="zh-TW" altLang="en-US" sz="180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版</a:t>
            </a:r>
            <a:r>
              <a:rPr lang="zh-CN" altLang="en-US" sz="180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文章。</a:t>
            </a:r>
            <a:endParaRPr lang="zh-CN" altLang="en-US" sz="180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4064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忽略標題含有 [公告] 和 </a:t>
            </a:r>
            <a:r>
              <a:rPr lang="en-US" altLang="en-US" sz="180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Fw:[</a:t>
            </a:r>
            <a:r>
              <a:rPr lang="zh-CN" altLang="en-US" sz="180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公告] 的文章。</a:t>
            </a:r>
            <a:endParaRPr lang="zh-CN" altLang="en-US" sz="180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4064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忽略缺少標題、標題是空字串的文章。</a:t>
            </a:r>
            <a:endParaRPr lang="zh-CN" altLang="en-US" sz="180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4064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忽略沒有對應網址的文章。</a:t>
            </a:r>
            <a:endParaRPr lang="zh-CN" altLang="en-US" sz="180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4064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列表頁面顯示的文章標題可能會和內文顯示的標題有差異，在這裡以列表頁面的為準。</a:t>
            </a:r>
            <a:endParaRPr lang="zh-CN" altLang="en-US" sz="180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"/>
          <p:cNvSpPr txBox="1"/>
          <p:nvPr>
            <p:ph type="title"/>
          </p:nvPr>
        </p:nvSpPr>
        <p:spPr>
          <a:xfrm>
            <a:off x="837565" y="273685"/>
            <a:ext cx="7054215" cy="99441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4000">
                <a:latin typeface="Calibri" panose="020F0502020204030204" charset="0"/>
                <a:ea typeface="標楷體" panose="03000509000000000000" charset="-120"/>
                <a:cs typeface="Calibri" panose="020F0502020204030204" charset="0"/>
              </a:rPr>
              <a:t>Crawl</a:t>
            </a:r>
            <a:endParaRPr lang="en-US" altLang="zh-TW" sz="4000">
              <a:latin typeface="Calibri" panose="020F0502020204030204" charset="0"/>
              <a:ea typeface="標楷體" panose="03000509000000000000" charset="-120"/>
              <a:cs typeface="Calibri" panose="020F0502020204030204" charset="0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838200" y="1102995"/>
            <a:ext cx="6958965" cy="370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64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格式：</a:t>
            </a:r>
            <a:r>
              <a:rPr lang="en-US" altLang="en-US" sz="1800">
                <a:solidFill>
                  <a:schemeClr val="dk1"/>
                </a:solidFill>
                <a:highlight>
                  <a:srgbClr val="C0C0C0"/>
                </a:highlight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$ python {student_id}.py crawl</a:t>
            </a:r>
            <a:endParaRPr lang="en-US" altLang="en-US" sz="1800">
              <a:solidFill>
                <a:schemeClr val="dk1"/>
              </a:solidFill>
              <a:highlight>
                <a:srgbClr val="C0C0C0"/>
              </a:highlight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4064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範例：</a:t>
            </a:r>
            <a:r>
              <a:rPr lang="en-US" altLang="en-US" sz="1800">
                <a:solidFill>
                  <a:schemeClr val="dk1"/>
                </a:solidFill>
                <a:highlight>
                  <a:srgbClr val="C0C0C0"/>
                </a:highlight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$ python 414581006.py crawl</a:t>
            </a:r>
            <a:endParaRPr lang="en-US" altLang="en-US" sz="180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4064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輸入：沒有輸入。</a:t>
            </a:r>
            <a:endParaRPr lang="en-US" altLang="en-US" sz="180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4064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輸出：</a:t>
            </a:r>
            <a:endParaRPr lang="zh-CN" altLang="en-US" sz="180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57785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charset="0"/>
              <a:buNone/>
            </a:pPr>
            <a:r>
              <a:rPr lang="zh-CN" altLang="en-US" sz="180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格式說明：</a:t>
            </a:r>
            <a:endParaRPr lang="zh-CN" altLang="en-US" sz="180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86360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charset="0"/>
              <a:buChar char="Ø"/>
            </a:pPr>
            <a:r>
              <a:rPr lang="zh-CN" altLang="en-US" sz="180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在當前資料夾輸出兩個檔案：</a:t>
            </a:r>
            <a:endParaRPr lang="zh-CN" altLang="en-US" sz="180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137795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charset="0"/>
              <a:buAutoNum type="arabicPeriod"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articles.jsonl</a:t>
            </a:r>
            <a:r>
              <a:rPr lang="en-US" altLang="en-US" sz="180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   -&gt;</a:t>
            </a:r>
            <a:r>
              <a:rPr lang="zh-CN" altLang="en-US" sz="180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包含所有文章。</a:t>
            </a:r>
            <a:endParaRPr lang="zh-CN" altLang="en-US" sz="180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137795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charset="0"/>
              <a:buAutoNum type="arabicPeriod"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popular_articles.jsonl</a:t>
            </a:r>
            <a:r>
              <a:rPr lang="en-US" altLang="en-US" sz="180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   -&gt;</a:t>
            </a:r>
            <a:r>
              <a:rPr lang="zh-CN" altLang="en-US" sz="180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包含所有推爆的文章。</a:t>
            </a:r>
            <a:endParaRPr lang="zh-CN" altLang="en-US" sz="180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"/>
          <p:cNvSpPr txBox="1"/>
          <p:nvPr>
            <p:ph type="title"/>
          </p:nvPr>
        </p:nvSpPr>
        <p:spPr>
          <a:xfrm>
            <a:off x="837565" y="273685"/>
            <a:ext cx="7054215" cy="99441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4000">
                <a:latin typeface="Calibri" panose="020F0502020204030204" charset="0"/>
                <a:ea typeface="標楷體" panose="03000509000000000000" charset="-120"/>
                <a:cs typeface="Calibri" panose="020F0502020204030204" charset="0"/>
              </a:rPr>
              <a:t>Crawl</a:t>
            </a:r>
            <a:endParaRPr lang="en-US" altLang="en-US" sz="4000">
              <a:latin typeface="Calibri" panose="020F0502020204030204" charset="0"/>
              <a:ea typeface="標楷體" panose="03000509000000000000" charset="-120"/>
              <a:cs typeface="Calibri" panose="020F050202020403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131570" y="1390015"/>
            <a:ext cx="7494270" cy="37534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/>
              <a:t>兩個檔案的格式均為 </a:t>
            </a:r>
            <a:r>
              <a:rPr lang="en-US" altLang="en-US" sz="2000"/>
              <a:t>jsonlines，</a:t>
            </a:r>
            <a:r>
              <a:rPr lang="zh-CN" altLang="en-US" sz="2000"/>
              <a:t>其中每一個 </a:t>
            </a:r>
            <a:r>
              <a:rPr lang="en-US" altLang="en-US" sz="2000"/>
              <a:t>json </a:t>
            </a:r>
            <a:r>
              <a:rPr lang="zh-CN" altLang="en-US" sz="2000"/>
              <a:t>代表一篇文章的資訊，文章不需要按照日期排序，其</a:t>
            </a:r>
            <a:r>
              <a:rPr lang="en-US" altLang="en-US" sz="2000"/>
              <a:t>json</a:t>
            </a:r>
            <a:r>
              <a:rPr lang="zh-CN" altLang="en-US" sz="2000"/>
              <a:t>格式為：</a:t>
            </a:r>
            <a:endParaRPr lang="zh-CN" altLang="en-US" sz="2000"/>
          </a:p>
          <a:p>
            <a:pPr algn="ctr"/>
            <a:r>
              <a:rPr lang="en-US" altLang="en-US" sz="1800"/>
              <a:t>{</a:t>
            </a:r>
            <a:r>
              <a:rPr lang="en-US" altLang="en-US" sz="1800">
                <a:solidFill>
                  <a:srgbClr val="81034D"/>
                </a:solidFill>
              </a:rPr>
              <a:t>"date"</a:t>
            </a:r>
            <a:r>
              <a:rPr lang="en-US" altLang="en-US" sz="1800"/>
              <a:t>: </a:t>
            </a:r>
            <a:r>
              <a:rPr lang="en-US" altLang="en-US" sz="1800">
                <a:solidFill>
                  <a:schemeClr val="accent6">
                    <a:lumMod val="75000"/>
                  </a:schemeClr>
                </a:solidFill>
              </a:rPr>
              <a:t>"{</a:t>
            </a:r>
            <a:r>
              <a:rPr lang="zh-CN" altLang="en-US" sz="1800">
                <a:solidFill>
                  <a:schemeClr val="accent6">
                    <a:lumMod val="75000"/>
                  </a:schemeClr>
                </a:solidFill>
              </a:rPr>
              <a:t>文章日期}"</a:t>
            </a:r>
            <a:r>
              <a:rPr lang="zh-CN" altLang="en-US" sz="1800"/>
              <a:t>, </a:t>
            </a:r>
            <a:r>
              <a:rPr lang="zh-CN" altLang="en-US" sz="1800">
                <a:solidFill>
                  <a:srgbClr val="81034D"/>
                </a:solidFill>
              </a:rPr>
              <a:t>"</a:t>
            </a:r>
            <a:r>
              <a:rPr lang="en-US" altLang="en-US" sz="1800">
                <a:solidFill>
                  <a:srgbClr val="81034D"/>
                </a:solidFill>
              </a:rPr>
              <a:t>title"</a:t>
            </a:r>
            <a:r>
              <a:rPr lang="en-US" altLang="en-US" sz="1800"/>
              <a:t>: </a:t>
            </a:r>
            <a:r>
              <a:rPr lang="en-US" altLang="en-US" sz="1800">
                <a:solidFill>
                  <a:schemeClr val="accent6">
                    <a:lumMod val="75000"/>
                  </a:schemeClr>
                </a:solidFill>
              </a:rPr>
              <a:t>"{</a:t>
            </a:r>
            <a:r>
              <a:rPr lang="zh-CN" altLang="en-US" sz="1800">
                <a:solidFill>
                  <a:schemeClr val="accent6">
                    <a:lumMod val="75000"/>
                  </a:schemeClr>
                </a:solidFill>
              </a:rPr>
              <a:t>文章標題}"</a:t>
            </a:r>
            <a:r>
              <a:rPr lang="zh-CN" altLang="en-US" sz="1800"/>
              <a:t>, </a:t>
            </a:r>
            <a:r>
              <a:rPr lang="zh-CN" altLang="en-US" sz="1800">
                <a:solidFill>
                  <a:srgbClr val="81034D"/>
                </a:solidFill>
              </a:rPr>
              <a:t>"</a:t>
            </a:r>
            <a:r>
              <a:rPr lang="en-US" altLang="en-US" sz="1800">
                <a:solidFill>
                  <a:srgbClr val="81034D"/>
                </a:solidFill>
              </a:rPr>
              <a:t>url"</a:t>
            </a:r>
            <a:r>
              <a:rPr lang="en-US" altLang="en-US" sz="1800"/>
              <a:t>: </a:t>
            </a:r>
            <a:r>
              <a:rPr lang="en-US" altLang="en-US" sz="1800">
                <a:solidFill>
                  <a:schemeClr val="accent6">
                    <a:lumMod val="75000"/>
                  </a:schemeClr>
                </a:solidFill>
              </a:rPr>
              <a:t>"{</a:t>
            </a:r>
            <a:r>
              <a:rPr lang="zh-CN" altLang="en-US" sz="1800">
                <a:solidFill>
                  <a:schemeClr val="accent6">
                    <a:lumMod val="75000"/>
                  </a:schemeClr>
                </a:solidFill>
              </a:rPr>
              <a:t>文章網址}"</a:t>
            </a:r>
            <a:r>
              <a:rPr lang="zh-CN" altLang="en-US" sz="1800"/>
              <a:t>}</a:t>
            </a:r>
            <a:endParaRPr lang="zh-CN" altLang="en-US" sz="20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2000"/>
              <a:t>範例 </a:t>
            </a:r>
            <a:r>
              <a:rPr lang="en-US" altLang="en-US" sz="2000"/>
              <a:t>articles.jsonl </a:t>
            </a:r>
            <a:r>
              <a:rPr lang="zh-CN" altLang="en-US" sz="2000"/>
              <a:t>的前幾行</a:t>
            </a:r>
            <a:r>
              <a:rPr lang="zh-CN" altLang="en-US" sz="1600"/>
              <a:t>：</a:t>
            </a:r>
            <a:endParaRPr lang="zh-CN" altLang="en-US" sz="160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 sz="160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 sz="160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 sz="1600"/>
          </a:p>
          <a:p>
            <a:pPr marL="0" indent="0" algn="l">
              <a:buFont typeface="Arial" panose="020B0604020202020204" pitchFamily="34" charset="0"/>
              <a:buNone/>
            </a:pPr>
            <a:endParaRPr lang="zh-TW" altLang="zh-CN" sz="1600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zh-TW" altLang="zh-CN" sz="1600"/>
              <a:t>注意事項</a:t>
            </a:r>
            <a:endParaRPr lang="zh-CN" altLang="en-US" sz="16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600"/>
              <a:t>文章順序不會影響評分。</a:t>
            </a:r>
            <a:endParaRPr lang="en-US" altLang="en-US" sz="16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600"/>
              <a:t>文章的 </a:t>
            </a:r>
            <a:r>
              <a:rPr lang="en-US" altLang="en-US" sz="1600"/>
              <a:t>url </a:t>
            </a:r>
            <a:r>
              <a:rPr lang="zh-CN" altLang="en-US" sz="1600"/>
              <a:t>請以 </a:t>
            </a:r>
            <a:r>
              <a:rPr lang="en-US" altLang="en-US" sz="1600"/>
              <a:t>https:// </a:t>
            </a:r>
            <a:r>
              <a:rPr lang="zh-CN" altLang="en-US" sz="1600"/>
              <a:t>開頭。</a:t>
            </a:r>
            <a:endParaRPr lang="en-US" altLang="en-US" sz="16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600"/>
              <a:t>第一個測試指令一定是 </a:t>
            </a:r>
            <a:r>
              <a:rPr lang="en-US" altLang="en-US" sz="1600"/>
              <a:t>crawl，</a:t>
            </a:r>
            <a:r>
              <a:rPr lang="zh-CN" altLang="en-US" sz="1600"/>
              <a:t>後續所有測試都可以讀取 </a:t>
            </a:r>
            <a:r>
              <a:rPr lang="en-US" altLang="en-US" sz="1600"/>
              <a:t>articles.jsonl </a:t>
            </a:r>
            <a:r>
              <a:rPr lang="zh-CN" altLang="en-US" sz="1600"/>
              <a:t>和 </a:t>
            </a:r>
            <a:r>
              <a:rPr lang="en-US" altLang="en-US" sz="1600"/>
              <a:t>popular_articles.jsonl。</a:t>
            </a:r>
            <a:endParaRPr lang="en-US" altLang="en-US" sz="1600"/>
          </a:p>
          <a:p>
            <a:pPr algn="l"/>
            <a:endParaRPr lang="zh-CN" altLang="en-US" sz="16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785" y="2783840"/>
            <a:ext cx="8012430" cy="6305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 txBox="1"/>
          <p:nvPr>
            <p:ph type="title"/>
          </p:nvPr>
        </p:nvSpPr>
        <p:spPr>
          <a:xfrm>
            <a:off x="628650" y="568960"/>
            <a:ext cx="7775575" cy="771525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Crawl</a:t>
            </a:r>
            <a:endParaRPr lang="en-US" sz="4000"/>
          </a:p>
        </p:txBody>
      </p:sp>
      <p:sp>
        <p:nvSpPr>
          <p:cNvPr id="133" name="Google Shape;133;p13"/>
          <p:cNvSpPr txBox="1"/>
          <p:nvPr>
            <p:ph type="sldNum" idx="12"/>
          </p:nvPr>
        </p:nvSpPr>
        <p:spPr>
          <a:xfrm>
            <a:off x="6981415" y="4767263"/>
            <a:ext cx="20574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  <p:sp>
        <p:nvSpPr>
          <p:cNvPr id="252" name="Google Shape;252;p24"/>
          <p:cNvSpPr txBox="1"/>
          <p:nvPr/>
        </p:nvSpPr>
        <p:spPr>
          <a:xfrm>
            <a:off x="565785" y="1227455"/>
            <a:ext cx="7263765" cy="55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p>
            <a:pPr marL="4064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日期、標題、推文減噓文和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URL：</a:t>
            </a:r>
            <a:endParaRPr lang="en-US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1" descr="螢幕擷取畫面 2026-05-01 1647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3175" y="1778000"/>
            <a:ext cx="3955415" cy="2279650"/>
          </a:xfrm>
          <a:prstGeom prst="rect">
            <a:avLst/>
          </a:prstGeom>
        </p:spPr>
      </p:pic>
      <p:pic>
        <p:nvPicPr>
          <p:cNvPr id="3" name="Picture 2" descr="螢幕擷取畫面 2026-05-01 1651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" y="1778000"/>
            <a:ext cx="4969510" cy="22796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3431" y="273844"/>
            <a:ext cx="7317398" cy="994172"/>
          </a:xfrm>
        </p:spPr>
        <p:txBody>
          <a:bodyPr>
            <a:normAutofit/>
          </a:bodyPr>
          <a:p>
            <a:r>
              <a:rPr lang="en-US" altLang="en-US" sz="4000"/>
              <a:t>Crawl</a:t>
            </a:r>
            <a:endParaRPr lang="en-US" altLang="en-US" sz="40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47C0CA7-7340-496F-BA89-8100D07382E6}" type="slidenum">
              <a:rPr lang="zh-TW" altLang="en-US" sz="675" smtClean="0"/>
            </a:fld>
            <a:endParaRPr lang="zh-TW" altLang="en-US" sz="675"/>
          </a:p>
        </p:txBody>
      </p:sp>
      <p:sp>
        <p:nvSpPr>
          <p:cNvPr id="4" name="文本框 3"/>
          <p:cNvSpPr txBox="1"/>
          <p:nvPr/>
        </p:nvSpPr>
        <p:spPr>
          <a:xfrm>
            <a:off x="1058545" y="1199515"/>
            <a:ext cx="674941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tx1"/>
                </a:solidFill>
                <a:uFillTx/>
                <a:sym typeface="+mn-ea"/>
              </a:rPr>
              <a:t>推爆定義</a:t>
            </a:r>
            <a:r>
              <a:rPr lang="en-US" altLang="zh-CN" sz="1600">
                <a:solidFill>
                  <a:schemeClr val="tx1"/>
                </a:solidFill>
                <a:uFillTx/>
                <a:sym typeface="+mn-ea"/>
              </a:rPr>
              <a:t>:</a:t>
            </a:r>
            <a:endParaRPr lang="zh-CN" altLang="en-US" sz="1600">
              <a:solidFill>
                <a:schemeClr val="tx1"/>
              </a:solidFill>
              <a:uFillTx/>
              <a:sym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tx1"/>
                </a:solidFill>
                <a:uFillTx/>
                <a:sym typeface="+mn-ea"/>
              </a:rPr>
              <a:t>一篇文章被推時，文章前會顯示推文（低調推除外）的次數，但如果被噓文時，會抵銷掉推文的次數，而推文-噓文大於100時，就會變成「推爆」的狀況。但進入爆的狀況之後，系統就不會再計算推文數，而是持續以100來計數，因此即使推文數遠超100，但這時有人噓文時，數字還是會恢復到99，這時要再有人推才會再變成爆的狀態。（或可稱為「再推爆一次」）</a:t>
            </a:r>
            <a:endParaRPr lang="zh-CN" altLang="en-US" sz="1600">
              <a:solidFill>
                <a:schemeClr val="tx1"/>
              </a:solidFill>
              <a:uFillTx/>
              <a:sym typeface="+mn-ea"/>
            </a:endParaRPr>
          </a:p>
        </p:txBody>
      </p:sp>
      <p:pic>
        <p:nvPicPr>
          <p:cNvPr id="5" name="Picture 4" descr="螢幕擷取畫面 2026-05-01 1659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8055" y="2880995"/>
            <a:ext cx="444881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7235" y="273844"/>
            <a:ext cx="7263289" cy="994410"/>
          </a:xfrm>
        </p:spPr>
        <p:txBody>
          <a:bodyPr/>
          <a:p>
            <a:r>
              <a:rPr lang="en-US" altLang="en-US" sz="4000"/>
              <a:t>Push</a:t>
            </a:r>
            <a:endParaRPr lang="en-US" altLang="en-US" sz="4000"/>
          </a:p>
        </p:txBody>
      </p:sp>
      <p:sp>
        <p:nvSpPr>
          <p:cNvPr id="3" name="文本框 3"/>
          <p:cNvSpPr txBox="1"/>
          <p:nvPr/>
        </p:nvSpPr>
        <p:spPr>
          <a:xfrm>
            <a:off x="1014095" y="1646555"/>
            <a:ext cx="6827520" cy="29229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chemeClr val="tx1"/>
                </a:solidFill>
                <a:uFillTx/>
              </a:rPr>
              <a:t>功能：</a:t>
            </a:r>
            <a:endParaRPr lang="zh-CN" altLang="en-US" sz="2400">
              <a:solidFill>
                <a:schemeClr val="tx1"/>
              </a:solidFill>
              <a:uFillTx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chemeClr val="tx1"/>
                </a:solidFill>
                <a:uFillTx/>
              </a:rPr>
              <a:t>找出在 {</a:t>
            </a:r>
            <a:r>
              <a:rPr lang="en-US" altLang="en-US" sz="2400">
                <a:solidFill>
                  <a:schemeClr val="tx1"/>
                </a:solidFill>
                <a:uFillTx/>
              </a:rPr>
              <a:t>start_date} (</a:t>
            </a:r>
            <a:r>
              <a:rPr lang="zh-CN" altLang="en-US" sz="2400">
                <a:solidFill>
                  <a:schemeClr val="tx1"/>
                </a:solidFill>
                <a:uFillTx/>
              </a:rPr>
              <a:t>含) 跟 {</a:t>
            </a:r>
            <a:r>
              <a:rPr lang="en-US" altLang="en-US" sz="2400">
                <a:solidFill>
                  <a:schemeClr val="tx1"/>
                </a:solidFill>
                <a:uFillTx/>
              </a:rPr>
              <a:t>end_date} (</a:t>
            </a:r>
            <a:r>
              <a:rPr lang="zh-CN" altLang="en-US" sz="2400">
                <a:solidFill>
                  <a:schemeClr val="tx1"/>
                </a:solidFill>
                <a:uFillTx/>
              </a:rPr>
              <a:t>含) 之間的以下資訊：</a:t>
            </a:r>
            <a:endParaRPr lang="en-US" altLang="en-US" sz="2400">
              <a:solidFill>
                <a:schemeClr val="tx1"/>
              </a:solidFill>
              <a:uFillTx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  <a:uFillTx/>
              </a:rPr>
              <a:t>推文和噓文兩種各自的總數。</a:t>
            </a:r>
            <a:endParaRPr lang="zh-CN" altLang="en-US" sz="2400">
              <a:solidFill>
                <a:schemeClr val="tx1"/>
              </a:solidFill>
              <a:uFillTx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  <a:uFillTx/>
              </a:rPr>
              <a:t>推文最多次的前10名 </a:t>
            </a:r>
            <a:r>
              <a:rPr lang="en-US" altLang="en-US" sz="2400">
                <a:solidFill>
                  <a:schemeClr val="tx1"/>
                </a:solidFill>
                <a:uFillTx/>
              </a:rPr>
              <a:t>user_id。</a:t>
            </a:r>
            <a:endParaRPr lang="en-US" altLang="en-US" sz="2400">
              <a:solidFill>
                <a:schemeClr val="tx1"/>
              </a:solidFill>
              <a:uFillTx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  <a:uFillTx/>
              </a:rPr>
              <a:t>噓文最多次的前10名 </a:t>
            </a:r>
            <a:r>
              <a:rPr lang="en-US" altLang="en-US" sz="2400">
                <a:solidFill>
                  <a:schemeClr val="tx1"/>
                </a:solidFill>
                <a:uFillTx/>
              </a:rPr>
              <a:t>user_id</a:t>
            </a:r>
            <a:r>
              <a:rPr lang="en-US" altLang="en-US" sz="2000">
                <a:solidFill>
                  <a:schemeClr val="tx1"/>
                </a:solidFill>
                <a:uFillTx/>
              </a:rPr>
              <a:t>。</a:t>
            </a:r>
            <a:endParaRPr lang="en-US" altLang="en-US" sz="2000">
              <a:solidFill>
                <a:schemeClr val="tx1"/>
              </a:solidFill>
              <a:uFillTx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2000">
              <a:solidFill>
                <a:schemeClr val="tx1"/>
              </a:solidFill>
              <a:uFillTx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2000">
              <a:solidFill>
                <a:schemeClr val="tx1"/>
              </a:solidFill>
              <a:highlight>
                <a:srgbClr val="C0C0C0"/>
              </a:highlight>
              <a:uFillTx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7235" y="273844"/>
            <a:ext cx="7263289" cy="994410"/>
          </a:xfrm>
        </p:spPr>
        <p:txBody>
          <a:bodyPr/>
          <a:p>
            <a:r>
              <a:rPr lang="en-US" altLang="en-US" sz="4000"/>
              <a:t>Push</a:t>
            </a:r>
            <a:endParaRPr lang="zh-CN" altLang="en-US" sz="4000"/>
          </a:p>
        </p:txBody>
      </p:sp>
      <p:sp>
        <p:nvSpPr>
          <p:cNvPr id="3" name="文本框 3"/>
          <p:cNvSpPr txBox="1"/>
          <p:nvPr/>
        </p:nvSpPr>
        <p:spPr>
          <a:xfrm>
            <a:off x="508635" y="1378585"/>
            <a:ext cx="7491730" cy="3165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uFillTx/>
              </a:rPr>
              <a:t>格式：</a:t>
            </a:r>
            <a:r>
              <a:rPr lang="en-US" altLang="en-US" sz="2000">
                <a:solidFill>
                  <a:schemeClr val="tx1"/>
                </a:solidFill>
                <a:highlight>
                  <a:srgbClr val="C0C0C0"/>
                </a:highlight>
                <a:uFillTx/>
              </a:rPr>
              <a:t>$ python {student_id}.py push {start_date} {end_date}</a:t>
            </a:r>
            <a:endParaRPr lang="en-US" altLang="en-US" sz="2000">
              <a:solidFill>
                <a:schemeClr val="tx1"/>
              </a:solidFill>
              <a:uFillTx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uFillTx/>
              </a:rPr>
              <a:t>範例：</a:t>
            </a:r>
            <a:r>
              <a:rPr lang="en-US" altLang="en-US" sz="2000">
                <a:solidFill>
                  <a:schemeClr val="tx1"/>
                </a:solidFill>
                <a:highlight>
                  <a:srgbClr val="C0C0C0"/>
                </a:highlight>
                <a:uFillTx/>
              </a:rPr>
              <a:t>$ python 414581006.py push 0304 1231</a:t>
            </a:r>
            <a:endParaRPr lang="en-US" altLang="en-US" sz="2000">
              <a:solidFill>
                <a:schemeClr val="tx1"/>
              </a:solidFill>
              <a:highlight>
                <a:srgbClr val="C0C0C0"/>
              </a:highlight>
              <a:uFillTx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uFillTx/>
              </a:rPr>
              <a:t>輸入：</a:t>
            </a:r>
            <a:r>
              <a:rPr lang="en-US" altLang="en-US" sz="2000">
                <a:solidFill>
                  <a:schemeClr val="tx1"/>
                </a:solidFill>
                <a:uFillTx/>
              </a:rPr>
              <a:t>{start_date}、{end_date}   -&gt;  </a:t>
            </a:r>
            <a:r>
              <a:rPr lang="zh-CN" altLang="en-US" sz="2000">
                <a:solidFill>
                  <a:schemeClr val="tx1"/>
                </a:solidFill>
                <a:uFillTx/>
              </a:rPr>
              <a:t>格式為</a:t>
            </a:r>
            <a:r>
              <a:rPr lang="en-US" altLang="en-US" sz="2000">
                <a:solidFill>
                  <a:schemeClr val="tx1"/>
                </a:solidFill>
                <a:uFillTx/>
              </a:rPr>
              <a:t>MMDD，</a:t>
            </a:r>
            <a:r>
              <a:rPr lang="zh-CN" altLang="en-US" sz="2000">
                <a:solidFill>
                  <a:schemeClr val="tx1"/>
                </a:solidFill>
                <a:uFillTx/>
              </a:rPr>
              <a:t>例如3/4為 0304，12/31為 1231。</a:t>
            </a:r>
            <a:endParaRPr lang="zh-CN" altLang="en-US" sz="2000">
              <a:solidFill>
                <a:schemeClr val="tx1"/>
              </a:solidFill>
              <a:uFillTx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uFillTx/>
              </a:rPr>
              <a:t>輸出：</a:t>
            </a:r>
            <a:endParaRPr lang="zh-CN" altLang="en-US" sz="2000">
              <a:solidFill>
                <a:schemeClr val="tx1"/>
              </a:solidFill>
              <a:uFillTx/>
            </a:endParaRPr>
          </a:p>
          <a:p>
            <a:pPr marL="800100" lvl="1" indent="-342900">
              <a:buFont typeface="Wingdings" panose="05000000000000000000" charset="0"/>
              <a:buChar char="Ø"/>
            </a:pPr>
            <a:r>
              <a:rPr lang="zh-CN" altLang="en-US" sz="2000">
                <a:solidFill>
                  <a:schemeClr val="tx1"/>
                </a:solidFill>
                <a:uFillTx/>
              </a:rPr>
              <a:t>在當前資料夾輸出一個</a:t>
            </a:r>
            <a:r>
              <a:rPr lang="en-US" altLang="en-US" sz="2000">
                <a:solidFill>
                  <a:schemeClr val="tx1"/>
                </a:solidFill>
                <a:uFillTx/>
              </a:rPr>
              <a:t>json</a:t>
            </a:r>
            <a:r>
              <a:rPr lang="zh-CN" altLang="en-US" sz="2000">
                <a:solidFill>
                  <a:schemeClr val="tx1"/>
                </a:solidFill>
                <a:uFillTx/>
              </a:rPr>
              <a:t>檔，檔名請按照以下格式：</a:t>
            </a:r>
            <a:endParaRPr lang="zh-CN" altLang="en-US" sz="2000">
              <a:solidFill>
                <a:schemeClr val="tx1"/>
              </a:solidFill>
              <a:uFillTx/>
            </a:endParaRPr>
          </a:p>
          <a:p>
            <a:pPr marL="1371600" lvl="2" indent="-457200">
              <a:buFont typeface="Arial" panose="020B0604020202020204" pitchFamily="34" charset="0"/>
              <a:buAutoNum type="arabicPeriod"/>
            </a:pPr>
            <a:r>
              <a:rPr lang="en-US" altLang="en-US" sz="2000">
                <a:solidFill>
                  <a:srgbClr val="FF0000"/>
                </a:solidFill>
                <a:uFillTx/>
              </a:rPr>
              <a:t>push_{start_date}_{end_date}.json</a:t>
            </a:r>
            <a:endParaRPr lang="en-US" altLang="en-US" sz="2000">
              <a:solidFill>
                <a:schemeClr val="tx1"/>
              </a:solidFill>
              <a:uFillTx/>
            </a:endParaRPr>
          </a:p>
          <a:p>
            <a:pPr marL="1371600" lvl="2" indent="-457200">
              <a:buFont typeface="Arial" panose="020B0604020202020204" pitchFamily="34" charset="0"/>
              <a:buAutoNum type="arabicPeriod"/>
            </a:pPr>
            <a:r>
              <a:rPr lang="zh-CN" altLang="en-US" sz="2000">
                <a:solidFill>
                  <a:schemeClr val="tx1"/>
                </a:solidFill>
                <a:uFillTx/>
              </a:rPr>
              <a:t>範例：</a:t>
            </a:r>
            <a:r>
              <a:rPr lang="en-US" altLang="en-US" sz="2000">
                <a:solidFill>
                  <a:schemeClr val="tx1"/>
                </a:solidFill>
                <a:uFillTx/>
              </a:rPr>
              <a:t>push_0304_1231.json</a:t>
            </a:r>
            <a:endParaRPr lang="en-US" altLang="en-US" sz="2000">
              <a:solidFill>
                <a:schemeClr val="tx1"/>
              </a:solidFill>
              <a:uFillTx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480" y="273844"/>
            <a:ext cx="7317398" cy="994172"/>
          </a:xfrm>
        </p:spPr>
        <p:txBody>
          <a:bodyPr/>
          <a:p>
            <a:r>
              <a:rPr lang="en-US" altLang="en-US" sz="4000"/>
              <a:t>Push</a:t>
            </a:r>
            <a:endParaRPr lang="en-US" altLang="en-US" sz="40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47C0CA7-7340-496F-BA89-8100D07382E6}" type="slidenum">
              <a:rPr lang="zh-TW" altLang="en-US" sz="675" smtClean="0"/>
            </a:fld>
            <a:endParaRPr lang="zh-TW" altLang="en-US" sz="675"/>
          </a:p>
        </p:txBody>
      </p:sp>
      <p:sp>
        <p:nvSpPr>
          <p:cNvPr id="252" name="Google Shape;252;p24"/>
          <p:cNvSpPr txBox="1"/>
          <p:nvPr/>
        </p:nvSpPr>
        <p:spPr>
          <a:xfrm>
            <a:off x="1078865" y="1166495"/>
            <a:ext cx="1788795" cy="69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json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格式：</a:t>
            </a: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865" y="1861820"/>
            <a:ext cx="3423920" cy="2782570"/>
          </a:xfrm>
          <a:prstGeom prst="rect">
            <a:avLst/>
          </a:prstGeom>
        </p:spPr>
      </p:pic>
      <p:sp>
        <p:nvSpPr>
          <p:cNvPr id="6" name="Google Shape;252;p24"/>
          <p:cNvSpPr txBox="1"/>
          <p:nvPr/>
        </p:nvSpPr>
        <p:spPr>
          <a:xfrm>
            <a:off x="4653280" y="1166495"/>
            <a:ext cx="1788795" cy="69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輸出範例：</a:t>
            </a: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800" y="1660525"/>
            <a:ext cx="3274060" cy="34150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480" y="273844"/>
            <a:ext cx="7317398" cy="994172"/>
          </a:xfrm>
        </p:spPr>
        <p:txBody>
          <a:bodyPr/>
          <a:p>
            <a:r>
              <a:rPr lang="en-US" altLang="en-US" sz="4000"/>
              <a:t>Push</a:t>
            </a:r>
            <a:endParaRPr lang="en-US" altLang="en-US" sz="40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47C0CA7-7340-496F-BA89-8100D07382E6}" type="slidenum">
              <a:rPr lang="zh-TW" altLang="en-US" sz="675" smtClean="0"/>
            </a:fld>
            <a:endParaRPr lang="zh-TW" altLang="en-US" sz="675"/>
          </a:p>
        </p:txBody>
      </p:sp>
      <p:sp>
        <p:nvSpPr>
          <p:cNvPr id="252" name="Google Shape;252;p24"/>
          <p:cNvSpPr txBox="1"/>
          <p:nvPr/>
        </p:nvSpPr>
        <p:spPr>
          <a:xfrm>
            <a:off x="901700" y="1149985"/>
            <a:ext cx="7340600" cy="52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推文、噓文及中立留言</a:t>
            </a: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" name="Picture 3" descr="螢幕擷取畫面 2026-05-01 1702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825" y="1675765"/>
            <a:ext cx="6864350" cy="29610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480" y="273844"/>
            <a:ext cx="7317398" cy="994172"/>
          </a:xfrm>
        </p:spPr>
        <p:txBody>
          <a:bodyPr/>
          <a:p>
            <a:r>
              <a:rPr lang="en-US" altLang="en-US" sz="4000"/>
              <a:t>Popular</a:t>
            </a:r>
            <a:endParaRPr lang="en-US" altLang="en-US" sz="40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47C0CA7-7340-496F-BA89-8100D07382E6}" type="slidenum">
              <a:rPr lang="zh-TW" altLang="en-US" sz="675" smtClean="0"/>
            </a:fld>
            <a:endParaRPr lang="zh-TW" altLang="en-US" sz="675"/>
          </a:p>
        </p:txBody>
      </p:sp>
      <p:sp>
        <p:nvSpPr>
          <p:cNvPr id="252" name="Google Shape;252;p24"/>
          <p:cNvSpPr txBox="1"/>
          <p:nvPr/>
        </p:nvSpPr>
        <p:spPr>
          <a:xfrm>
            <a:off x="901700" y="1023620"/>
            <a:ext cx="7340600" cy="327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功能：</a:t>
            </a:r>
            <a:endParaRPr lang="zh-CN" altLang="en-US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找出在 {</a:t>
            </a:r>
            <a:r>
              <a:rPr lang="en-US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start_date} (</a:t>
            </a: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含) 跟 {</a:t>
            </a:r>
            <a:r>
              <a:rPr lang="en-US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end_date} (</a:t>
            </a: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含) 之間的以下資訊：</a:t>
            </a:r>
            <a:endParaRPr lang="en-US" altLang="en-US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推爆的文章數量。</a:t>
            </a:r>
            <a:endParaRPr lang="zh-CN" altLang="en-US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推爆文章中的所有圖片</a:t>
            </a:r>
            <a:r>
              <a:rPr lang="en-US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URL，</a:t>
            </a: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包括內文和留言中的圖片</a:t>
            </a:r>
            <a:r>
              <a:rPr lang="en-US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URL。</a:t>
            </a:r>
            <a:endParaRPr lang="en-US" altLang="en-US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圖片</a:t>
            </a:r>
            <a:r>
              <a:rPr lang="en-US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URL</a:t>
            </a: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定義：開頭必須是 </a:t>
            </a:r>
            <a:r>
              <a:rPr lang="en-US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http:// </a:t>
            </a: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或 </a:t>
            </a:r>
            <a:r>
              <a:rPr lang="en-US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https://，</a:t>
            </a: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並且要以 .</a:t>
            </a:r>
            <a:r>
              <a:rPr lang="en-US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jpg、.jpeg、.png、.gif </a:t>
            </a: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為副檔名結尾，副檔名不限大小寫。</a:t>
            </a:r>
            <a:endParaRPr lang="zh-CN" altLang="en-US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" name="Picture 9" descr="螢幕擷取畫面 2026-05-01 170956"/>
          <p:cNvPicPr>
            <a:picLocks noChangeAspect="1"/>
          </p:cNvPicPr>
          <p:nvPr/>
        </p:nvPicPr>
        <p:blipFill>
          <a:blip r:embed="rId1"/>
          <a:srcRect l="6182" r="5495"/>
          <a:stretch>
            <a:fillRect/>
          </a:stretch>
        </p:blipFill>
        <p:spPr>
          <a:xfrm>
            <a:off x="677545" y="3126740"/>
            <a:ext cx="3659505" cy="1910080"/>
          </a:xfrm>
          <a:prstGeom prst="rect">
            <a:avLst/>
          </a:prstGeom>
        </p:spPr>
      </p:pic>
      <p:pic>
        <p:nvPicPr>
          <p:cNvPr id="11" name="Picture 10" descr="螢幕擷取畫面 2026-05-01 171310"/>
          <p:cNvPicPr>
            <a:picLocks noChangeAspect="1"/>
          </p:cNvPicPr>
          <p:nvPr/>
        </p:nvPicPr>
        <p:blipFill>
          <a:blip r:embed="rId2"/>
          <a:srcRect l="5304" r="17420"/>
          <a:stretch>
            <a:fillRect/>
          </a:stretch>
        </p:blipFill>
        <p:spPr>
          <a:xfrm>
            <a:off x="4675505" y="3126740"/>
            <a:ext cx="3199130" cy="19094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480" y="273844"/>
            <a:ext cx="7317398" cy="994172"/>
          </a:xfrm>
        </p:spPr>
        <p:txBody>
          <a:bodyPr/>
          <a:p>
            <a:r>
              <a:rPr lang="en-US" altLang="en-US" sz="4000">
                <a:sym typeface="+mn-ea"/>
              </a:rPr>
              <a:t>Popular</a:t>
            </a:r>
            <a:endParaRPr lang="en-US" altLang="en-US" sz="40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47C0CA7-7340-496F-BA89-8100D07382E6}" type="slidenum">
              <a:rPr lang="zh-TW" altLang="en-US" sz="675" smtClean="0"/>
            </a:fld>
            <a:endParaRPr lang="zh-TW" altLang="en-US" sz="675"/>
          </a:p>
        </p:txBody>
      </p:sp>
      <p:sp>
        <p:nvSpPr>
          <p:cNvPr id="252" name="Google Shape;252;p24"/>
          <p:cNvSpPr txBox="1"/>
          <p:nvPr/>
        </p:nvSpPr>
        <p:spPr>
          <a:xfrm>
            <a:off x="652780" y="1125855"/>
            <a:ext cx="8269605" cy="3717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zh-CN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格式：</a:t>
            </a:r>
            <a:r>
              <a:rPr lang="en-US" altLang="en-US" sz="1800">
                <a:solidFill>
                  <a:schemeClr val="dk1"/>
                </a:solidFill>
                <a:highlight>
                  <a:srgbClr val="C0C0C0"/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 python {student_id}.py popular {start_date} {end_date}</a:t>
            </a:r>
            <a:endParaRPr lang="en-US" altLang="en-US" sz="1800">
              <a:solidFill>
                <a:schemeClr val="dk1"/>
              </a:solidFill>
              <a:highlight>
                <a:srgbClr val="C0C0C0"/>
              </a:highlight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zh-CN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範例：</a:t>
            </a:r>
            <a:r>
              <a:rPr lang="en-US" altLang="en-US" sz="1800">
                <a:solidFill>
                  <a:schemeClr val="dk1"/>
                </a:solidFill>
                <a:highlight>
                  <a:srgbClr val="C0C0C0"/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 python 414581006.py popular 0304 1231</a:t>
            </a:r>
            <a:endParaRPr lang="en-US" alt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zh-CN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輸入：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{start_date}、{end_date}    -&gt;   </a:t>
            </a:r>
            <a:r>
              <a:rPr lang="zh-CN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格式均為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MMDD，</a:t>
            </a:r>
            <a:r>
              <a:rPr lang="zh-CN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例如3/4為 0304，12/31為 1231。</a:t>
            </a:r>
            <a:endParaRPr lang="zh-CN" alt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zh-CN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輸出：</a:t>
            </a:r>
            <a:endParaRPr lang="zh-CN" alt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lvl="1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charset="0"/>
              <a:buChar char="Ø"/>
            </a:pPr>
            <a:r>
              <a:rPr lang="zh-CN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在當前資料夾輸出一個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json</a:t>
            </a:r>
            <a:r>
              <a:rPr lang="zh-CN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檔，檔名請按照以下格式：</a:t>
            </a:r>
            <a:endParaRPr lang="zh-CN" alt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37795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AutoNum type="arabicPeriod"/>
            </a:pPr>
            <a:r>
              <a:rPr lang="en-US" altLang="en-US" sz="180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popular_{start_date}_{end_date}.json</a:t>
            </a:r>
            <a:endParaRPr lang="en-US" alt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37795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AutoNum type="arabicPeriod"/>
            </a:pPr>
            <a:r>
              <a:rPr lang="zh-CN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範例：</a:t>
            </a:r>
            <a:r>
              <a:rPr lang="en-US" alt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popular_0304_1231.json</a:t>
            </a:r>
            <a:endParaRPr lang="en-US" alt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480" y="273844"/>
            <a:ext cx="7317398" cy="994172"/>
          </a:xfrm>
        </p:spPr>
        <p:txBody>
          <a:bodyPr>
            <a:normAutofit/>
          </a:bodyPr>
          <a:p>
            <a:r>
              <a:rPr lang="en-US" altLang="en-US" sz="4000">
                <a:sym typeface="+mn-ea"/>
              </a:rPr>
              <a:t>Popular</a:t>
            </a:r>
            <a:endParaRPr lang="en-US" altLang="en-US" sz="40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47C0CA7-7340-496F-BA89-8100D07382E6}" type="slidenum">
              <a:rPr lang="zh-TW" altLang="en-US" sz="675" smtClean="0"/>
            </a:fld>
            <a:endParaRPr lang="zh-TW" altLang="en-US" sz="675"/>
          </a:p>
        </p:txBody>
      </p:sp>
      <p:sp>
        <p:nvSpPr>
          <p:cNvPr id="252" name="Google Shape;252;p24"/>
          <p:cNvSpPr txBox="1"/>
          <p:nvPr/>
        </p:nvSpPr>
        <p:spPr>
          <a:xfrm>
            <a:off x="610870" y="1127125"/>
            <a:ext cx="4707890" cy="3766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json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格式：</a:t>
            </a: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r>
              <a:rPr lang="zh-TW" altLang="zh-CN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注意事項</a:t>
            </a: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064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評分時不比較順序。不用刪除重複的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URL。</a:t>
            </a:r>
            <a:endParaRPr lang="en-US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Google Shape;252;p24"/>
          <p:cNvSpPr txBox="1"/>
          <p:nvPr/>
        </p:nvSpPr>
        <p:spPr>
          <a:xfrm>
            <a:off x="4649470" y="1126490"/>
            <a:ext cx="4070985" cy="617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輸出範例：</a:t>
            </a: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" name="Picture 3" descr="螢幕擷取畫面 2026-05-01 1955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0" y="1744345"/>
            <a:ext cx="3372485" cy="1570355"/>
          </a:xfrm>
          <a:prstGeom prst="rect">
            <a:avLst/>
          </a:prstGeom>
        </p:spPr>
      </p:pic>
      <p:pic>
        <p:nvPicPr>
          <p:cNvPr id="5" name="Picture 4" descr="螢幕擷取畫面 2026-05-01 1955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975" y="1744345"/>
            <a:ext cx="3293110" cy="19500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480" y="273844"/>
            <a:ext cx="7317398" cy="994172"/>
          </a:xfrm>
        </p:spPr>
        <p:txBody>
          <a:bodyPr>
            <a:normAutofit/>
          </a:bodyPr>
          <a:p>
            <a:r>
              <a:rPr lang="en-US" altLang="en-US" sz="4000"/>
              <a:t>Keyword</a:t>
            </a:r>
            <a:endParaRPr lang="en-US" altLang="en-US" sz="40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47C0CA7-7340-496F-BA89-8100D07382E6}" type="slidenum">
              <a:rPr lang="zh-TW" altLang="en-US" sz="675" smtClean="0"/>
            </a:fld>
            <a:endParaRPr lang="zh-TW" altLang="en-US" sz="675"/>
          </a:p>
        </p:txBody>
      </p:sp>
      <p:sp>
        <p:nvSpPr>
          <p:cNvPr id="252" name="Google Shape;252;p24"/>
          <p:cNvSpPr txBox="1"/>
          <p:nvPr/>
        </p:nvSpPr>
        <p:spPr>
          <a:xfrm>
            <a:off x="628015" y="1102360"/>
            <a:ext cx="7257415" cy="39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功能：</a:t>
            </a:r>
            <a:endParaRPr lang="zh-CN" altLang="en-US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找出在 {</a:t>
            </a:r>
            <a:r>
              <a:rPr lang="en-US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start_date} (</a:t>
            </a: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含) 和 {</a:t>
            </a:r>
            <a:r>
              <a:rPr lang="en-US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end_date} (</a:t>
            </a: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含) 之間內文包含 {</a:t>
            </a:r>
            <a:r>
              <a:rPr lang="en-US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keyword} </a:t>
            </a: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的文章，並統計這些文章的以下資訊：</a:t>
            </a:r>
            <a:endParaRPr lang="en-US" altLang="en-US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文章中的所有圖片</a:t>
            </a:r>
            <a:r>
              <a:rPr lang="en-US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URL，</a:t>
            </a: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包括內文和留言中的圖片</a:t>
            </a:r>
            <a:r>
              <a:rPr lang="en-US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URL。</a:t>
            </a:r>
            <a:endParaRPr lang="en-US" altLang="en-US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圖片</a:t>
            </a:r>
            <a:r>
              <a:rPr lang="en-US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URL</a:t>
            </a: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定義：開頭必須是 </a:t>
            </a:r>
            <a:r>
              <a:rPr lang="en-US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http:// </a:t>
            </a: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或 </a:t>
            </a:r>
            <a:r>
              <a:rPr lang="en-US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https://，</a:t>
            </a: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並且要以 .</a:t>
            </a:r>
            <a:r>
              <a:rPr lang="en-US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jpg、.jpeg、.png、.gif </a:t>
            </a: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為副檔名結尾，副檔名不限大小寫。</a:t>
            </a:r>
            <a:endParaRPr lang="zh-CN" altLang="en-US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內文範圍說明：</a:t>
            </a:r>
            <a:endParaRPr lang="zh-CN" altLang="en-US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從</a:t>
            </a:r>
            <a:r>
              <a:rPr lang="zh-CN" altLang="en-US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「作者」</a:t>
            </a: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(含)開始到綠色的</a:t>
            </a:r>
            <a:r>
              <a:rPr lang="zh-CN" altLang="en-US">
                <a:solidFill>
                  <a:srgbClr val="5EC13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「※ 發信站」</a:t>
            </a: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(不含)之間， 只要有出現 {</a:t>
            </a:r>
            <a:r>
              <a:rPr lang="en-US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keyword} </a:t>
            </a: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就算</a:t>
            </a:r>
            <a:r>
              <a:rPr lang="en-US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。</a:t>
            </a:r>
            <a:endParaRPr lang="en-US" altLang="en-US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如果「※ 發信站」不存在，則忽略這篇文章。</a:t>
            </a:r>
            <a:endParaRPr lang="zh-CN" altLang="en-US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內文標題和文章列表顯示的標題可能不同，以內文為準。</a:t>
            </a:r>
            <a:endParaRPr lang="zh-CN" altLang="en-US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內文出現的網址也在 </a:t>
            </a:r>
            <a:r>
              <a:rPr lang="en-US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keyword </a:t>
            </a:r>
            <a:r>
              <a:rPr lang="zh-CN" alt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匹配範圍內。</a:t>
            </a:r>
            <a:endParaRPr lang="zh-CN" altLang="en-US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480" y="441484"/>
            <a:ext cx="7317398" cy="994172"/>
          </a:xfrm>
        </p:spPr>
        <p:txBody>
          <a:bodyPr>
            <a:normAutofit/>
          </a:bodyPr>
          <a:p>
            <a:r>
              <a:rPr lang="en-US" altLang="en-US" sz="4000"/>
              <a:t>Keyword</a:t>
            </a:r>
            <a:endParaRPr lang="en-US" altLang="en-US" sz="40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47C0CA7-7340-496F-BA89-8100D07382E6}" type="slidenum">
              <a:rPr lang="zh-TW" altLang="en-US" sz="675" smtClean="0"/>
            </a:fld>
            <a:endParaRPr lang="zh-TW" altLang="en-US" sz="675"/>
          </a:p>
        </p:txBody>
      </p:sp>
      <p:sp>
        <p:nvSpPr>
          <p:cNvPr id="252" name="Google Shape;252;p24"/>
          <p:cNvSpPr txBox="1"/>
          <p:nvPr/>
        </p:nvSpPr>
        <p:spPr>
          <a:xfrm>
            <a:off x="792480" y="1177925"/>
            <a:ext cx="7349490" cy="600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內文範圍</a:t>
            </a: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" name="Picture 3" descr="螢幕擷取畫面 2026-05-01 1721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2765" y="1778635"/>
            <a:ext cx="5295900" cy="30867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480" y="273844"/>
            <a:ext cx="7317398" cy="994172"/>
          </a:xfrm>
        </p:spPr>
        <p:txBody>
          <a:bodyPr/>
          <a:p>
            <a:r>
              <a:rPr lang="en-US" altLang="en-US" sz="4000"/>
              <a:t>Keyword</a:t>
            </a:r>
            <a:endParaRPr lang="en-US" altLang="en-US" sz="40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47C0CA7-7340-496F-BA89-8100D07382E6}" type="slidenum">
              <a:rPr lang="zh-TW" altLang="en-US" sz="675" smtClean="0"/>
            </a:fld>
            <a:endParaRPr lang="zh-TW" altLang="en-US" sz="675"/>
          </a:p>
        </p:txBody>
      </p:sp>
      <p:sp>
        <p:nvSpPr>
          <p:cNvPr id="252" name="Google Shape;252;p24"/>
          <p:cNvSpPr txBox="1"/>
          <p:nvPr/>
        </p:nvSpPr>
        <p:spPr>
          <a:xfrm>
            <a:off x="792480" y="1268095"/>
            <a:ext cx="7051675" cy="3773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格式：</a:t>
            </a:r>
            <a:r>
              <a:rPr lang="en-US" altLang="en-US" sz="1600">
                <a:solidFill>
                  <a:schemeClr val="dk1"/>
                </a:solidFill>
                <a:highlight>
                  <a:srgbClr val="C0C0C0"/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 python {student_id}.py keyword {start_date} {end_date} {keyword}</a:t>
            </a:r>
            <a:endParaRPr lang="en-US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範例：</a:t>
            </a:r>
            <a:r>
              <a:rPr lang="en-US" altLang="en-US" sz="1600">
                <a:solidFill>
                  <a:schemeClr val="dk1"/>
                </a:solidFill>
                <a:highlight>
                  <a:srgbClr val="C0C0C0"/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 python 414581006.py keyword 0304 1231 </a:t>
            </a:r>
            <a:r>
              <a:rPr lang="zh-CN" altLang="en-US" sz="1600">
                <a:solidFill>
                  <a:schemeClr val="dk1"/>
                </a:solidFill>
                <a:highlight>
                  <a:srgbClr val="C0C0C0"/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台股</a:t>
            </a: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輸入：</a:t>
            </a: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635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AutoNum type="arabicPeriod"/>
            </a:pP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{keyword}   -&gt;   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保證不包含空白字元（例如 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space、tab …）</a:t>
            </a:r>
            <a:endParaRPr lang="en-US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635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AutoNum type="arabicPeriod"/>
            </a:pP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{start_date}、{end_date}   -&gt;   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日期格式均為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MMDD，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例如3/4為0304，12/31為1231。</a:t>
            </a: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輸出：</a:t>
            </a:r>
            <a:endParaRPr lang="en-US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86360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charset="0"/>
              <a:buChar char="Ø"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在當前資料夾輸出一個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json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檔，檔名請按照以下格式：</a:t>
            </a: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37795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AutoNum type="arabicPeriod"/>
            </a:pPr>
            <a:r>
              <a:rPr lang="en-US" altLang="en-US" sz="160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keyword_{start_date}_{end_date}_{keyword}.json</a:t>
            </a:r>
            <a:endParaRPr lang="en-US" altLang="en-US" sz="1600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37795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AutoNum type="arabicPeriod"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範例：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keyword_0304_1231_</a:t>
            </a:r>
            <a:r>
              <a:rPr lang="zh-TW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台股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json</a:t>
            </a:r>
            <a:endParaRPr lang="en-US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480" y="273844"/>
            <a:ext cx="7317398" cy="994172"/>
          </a:xfrm>
        </p:spPr>
        <p:txBody>
          <a:bodyPr>
            <a:normAutofit/>
          </a:bodyPr>
          <a:p>
            <a:r>
              <a:rPr lang="en-US" altLang="en-US" sz="4000"/>
              <a:t>Keyword</a:t>
            </a:r>
            <a:endParaRPr lang="en-US" altLang="en-US" sz="40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47C0CA7-7340-496F-BA89-8100D07382E6}" type="slidenum">
              <a:rPr lang="zh-TW" altLang="en-US" sz="675" smtClean="0"/>
            </a:fld>
            <a:endParaRPr lang="zh-TW" altLang="en-US" sz="675"/>
          </a:p>
        </p:txBody>
      </p:sp>
      <p:sp>
        <p:nvSpPr>
          <p:cNvPr id="252" name="Google Shape;252;p24"/>
          <p:cNvSpPr txBox="1"/>
          <p:nvPr/>
        </p:nvSpPr>
        <p:spPr>
          <a:xfrm>
            <a:off x="628015" y="1268095"/>
            <a:ext cx="4909820" cy="3499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json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格式：</a:t>
            </a: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endParaRPr lang="zh-TW" altLang="zh-CN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zh-TW" altLang="zh-CN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注意事項</a:t>
            </a:r>
            <a:endParaRPr lang="zh-TW" altLang="zh-CN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評分時不比較順序。不用刪除重複的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URL。</a:t>
            </a:r>
            <a:endParaRPr lang="en-US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Google Shape;252;p24"/>
          <p:cNvSpPr txBox="1"/>
          <p:nvPr/>
        </p:nvSpPr>
        <p:spPr>
          <a:xfrm>
            <a:off x="4707255" y="1268095"/>
            <a:ext cx="3821430" cy="3220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輸出範例：</a:t>
            </a: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" name="Picture 3" descr="螢幕擷取畫面 2026-05-01 2004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0" y="1796415"/>
            <a:ext cx="2657475" cy="1952625"/>
          </a:xfrm>
          <a:prstGeom prst="rect">
            <a:avLst/>
          </a:prstGeom>
        </p:spPr>
      </p:pic>
      <p:pic>
        <p:nvPicPr>
          <p:cNvPr id="6" name="Picture 5" descr="螢幕擷取畫面 2026-05-01 2005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535" y="1796415"/>
            <a:ext cx="3844925" cy="17881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480" y="273844"/>
            <a:ext cx="7317398" cy="994172"/>
          </a:xfrm>
        </p:spPr>
        <p:txBody>
          <a:bodyPr>
            <a:normAutofit/>
          </a:bodyPr>
          <a:p>
            <a:r>
              <a:rPr lang="zh-CN" altLang="en-US"/>
              <a:t>繳交內容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47C0CA7-7340-496F-BA89-8100D07382E6}" type="slidenum">
              <a:rPr lang="zh-TW" altLang="en-US" sz="675" smtClean="0"/>
            </a:fld>
            <a:endParaRPr lang="zh-TW" altLang="en-US" sz="675"/>
          </a:p>
        </p:txBody>
      </p:sp>
      <p:sp>
        <p:nvSpPr>
          <p:cNvPr id="252" name="Google Shape;252;p24"/>
          <p:cNvSpPr txBox="1"/>
          <p:nvPr/>
        </p:nvSpPr>
        <p:spPr>
          <a:xfrm>
            <a:off x="1000125" y="1173480"/>
            <a:ext cx="5300980" cy="387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只能繳交一個 .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py 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檔，名稱為 {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student_id}.py，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請將 {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student_id} 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替換為你的學號。</a:t>
            </a: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測試環境</a:t>
            </a:r>
            <a:r>
              <a:rPr lang="en-US" altLang="zh-CN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作業系統：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Ubuntu 24.04。</a:t>
            </a:r>
            <a:endParaRPr lang="en-US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Python 3.12.3 ( Python 3.12.x 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都相容)。</a:t>
            </a: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使用工程四館的獨立 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IP 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進行測試。</a:t>
            </a: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只能使用 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Python 3.12.x 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預設套件和</a:t>
            </a:r>
            <a:r>
              <a:rPr lang="zh-TW" altLang="zh-CN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右側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套件，如果有需求可以和助教討論</a:t>
            </a: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Char char="●"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如果繳交格式有誤但手動修正後可正常執行，最後成績 </a:t>
            </a:r>
            <a:r>
              <a:rPr lang="en-US" altLang="zh-CN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x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0.8。如果無法執行，則視為沒有繳交。</a:t>
            </a: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1105" y="1974215"/>
            <a:ext cx="2543175" cy="28479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480" y="273844"/>
            <a:ext cx="7317398" cy="994172"/>
          </a:xfrm>
        </p:spPr>
        <p:txBody>
          <a:bodyPr>
            <a:normAutofit/>
          </a:bodyPr>
          <a:p>
            <a:r>
              <a:rPr lang="zh-TW" altLang="zh-CN"/>
              <a:t>評分</a:t>
            </a:r>
            <a:endParaRPr lang="zh-TW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47C0CA7-7340-496F-BA89-8100D07382E6}" type="slidenum">
              <a:rPr lang="zh-TW" altLang="en-US" sz="675" smtClean="0"/>
            </a:fld>
            <a:endParaRPr lang="zh-TW" altLang="en-US" sz="675"/>
          </a:p>
        </p:txBody>
      </p:sp>
      <p:sp>
        <p:nvSpPr>
          <p:cNvPr id="252" name="Google Shape;252;p24"/>
          <p:cNvSpPr txBox="1"/>
          <p:nvPr/>
        </p:nvSpPr>
        <p:spPr>
          <a:xfrm>
            <a:off x="1000125" y="1173480"/>
            <a:ext cx="7201535" cy="387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p>
            <a:pPr marL="4064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對 {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student_id}.py 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進行測試，除了 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Crawl 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以外，每種功能測試 5 組參數，每組參數的測試結果正確可得 5 分。</a:t>
            </a: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064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配分</a:t>
            </a:r>
            <a:r>
              <a:rPr lang="en-US" altLang="zh-CN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endParaRPr lang="en-US" altLang="zh-CN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064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endParaRPr lang="en-US" altLang="zh-CN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064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endParaRPr lang="en-US" altLang="zh-CN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064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endParaRPr lang="en-US" altLang="zh-CN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064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endParaRPr lang="en-US" altLang="zh-CN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064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endParaRPr lang="en-US" altLang="zh-CN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064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endParaRPr lang="en-US" altLang="zh-CN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064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程式執行超過時限會被強制 </a:t>
            </a:r>
            <a:r>
              <a:rPr lang="en-US" altLang="en-US" sz="160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kill。</a:t>
            </a:r>
            <a:endParaRPr lang="en-US" altLang="en-US" sz="1600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045" y="2157095"/>
            <a:ext cx="4879975" cy="233235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480" y="273844"/>
            <a:ext cx="7317398" cy="994172"/>
          </a:xfrm>
        </p:spPr>
        <p:txBody>
          <a:bodyPr>
            <a:normAutofit/>
          </a:bodyPr>
          <a:p>
            <a:r>
              <a:rPr lang="zh-CN" altLang="en-US"/>
              <a:t>比對工具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47C0CA7-7340-496F-BA89-8100D07382E6}" type="slidenum">
              <a:rPr lang="zh-TW" altLang="en-US" sz="675" smtClean="0"/>
            </a:fld>
            <a:endParaRPr lang="zh-TW" altLang="en-US" sz="675"/>
          </a:p>
        </p:txBody>
      </p:sp>
      <p:sp>
        <p:nvSpPr>
          <p:cNvPr id="252" name="Google Shape;252;p24"/>
          <p:cNvSpPr txBox="1"/>
          <p:nvPr/>
        </p:nvSpPr>
        <p:spPr>
          <a:xfrm>
            <a:off x="1000125" y="1173480"/>
            <a:ext cx="7289165" cy="239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壓縮檔 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hw4.zip 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中提供一個檢測腳本 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eval.py 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和一個資料夾 2025_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answer 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含有 2025 年的</a:t>
            </a:r>
            <a:r>
              <a:rPr lang="zh-TW" altLang="zh-CN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部分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測試答案，可以從檔案名稱看出測試參數。假設你的輸出檔案都存在資料夾 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outputs 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中，資料夾結構如範例如下：</a:t>
            </a: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064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可以用以下指令測試正確性：</a:t>
            </a: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06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 panose="020F0502020204030204"/>
              <a:buNone/>
            </a:pPr>
            <a:r>
              <a:rPr lang="en-US" altLang="en-US" sz="1600">
                <a:solidFill>
                  <a:schemeClr val="dk1"/>
                </a:solidFill>
                <a:highlight>
                  <a:srgbClr val="C0C0C0"/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python eval.py 2025_answer outputs</a:t>
            </a:r>
            <a:endParaRPr lang="en-US" altLang="en-US" sz="1600">
              <a:solidFill>
                <a:schemeClr val="dk1"/>
              </a:solidFill>
              <a:highlight>
                <a:srgbClr val="C0C0C0"/>
              </a:highlight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7210" y="2028190"/>
            <a:ext cx="2835910" cy="293497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480" y="273844"/>
            <a:ext cx="7317398" cy="994172"/>
          </a:xfrm>
        </p:spPr>
        <p:txBody>
          <a:bodyPr>
            <a:normAutofit/>
          </a:bodyPr>
          <a:p>
            <a:r>
              <a:rPr lang="en-US" altLang="zh-CN" sz="4000"/>
              <a:t>Note</a:t>
            </a:r>
            <a:endParaRPr lang="en-US" altLang="zh-CN" sz="40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47C0CA7-7340-496F-BA89-8100D07382E6}" type="slidenum">
              <a:rPr lang="zh-TW" altLang="en-US" sz="675" smtClean="0"/>
            </a:fld>
            <a:endParaRPr lang="zh-TW" altLang="en-US" sz="675"/>
          </a:p>
        </p:txBody>
      </p:sp>
      <p:sp>
        <p:nvSpPr>
          <p:cNvPr id="252" name="Google Shape;252;p24"/>
          <p:cNvSpPr txBox="1"/>
          <p:nvPr/>
        </p:nvSpPr>
        <p:spPr>
          <a:xfrm>
            <a:off x="1000125" y="1389380"/>
            <a:ext cx="686308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p>
            <a:pPr marL="4064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Crawl 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建議用 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append 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模式開檔，不斷寫入已經爬取的文章資訊，避免遇到 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Exception 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時完全沒有儲存結果。</a:t>
            </a: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064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多行程 (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multi-process) 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請用 </a:t>
            </a: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os.cpu_count() 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取得當前邏輯處理器數量，並對行程數適當調整</a:t>
            </a: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064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測試結果可能因為有人推文、噓文、刪除文章等行為隨著時間改變，因此</a:t>
            </a:r>
            <a:r>
              <a:rPr lang="en-US" altLang="zh-CN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86360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charset="0"/>
              <a:buChar char="Ø"/>
            </a:pPr>
            <a:r>
              <a:rPr lang="en-US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2025_answer 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在你測試的時候不一定會是正確答案</a:t>
            </a: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86360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charset="0"/>
              <a:buChar char="Ø"/>
            </a:pPr>
            <a:r>
              <a:rPr lang="zh-CN" alt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作業批改時，答案生成和測試會盡量在短時間內完成。</a:t>
            </a: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064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endParaRPr lang="zh-CN" alt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6"/>
          <p:cNvSpPr txBox="1"/>
          <p:nvPr>
            <p:ph type="body" idx="1"/>
          </p:nvPr>
        </p:nvSpPr>
        <p:spPr>
          <a:xfrm>
            <a:off x="628650" y="1969676"/>
            <a:ext cx="7886700" cy="944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Thank you </a:t>
            </a:r>
            <a:r>
              <a:rPr lang="en-US" altLang="zh-TW"/>
              <a:t>for listening</a:t>
            </a:r>
            <a:r>
              <a:rPr lang="zh-TW"/>
              <a:t>!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3463</Words>
  <Application>WPS Presentation</Application>
  <PresentationFormat/>
  <Paragraphs>259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Arial</vt:lpstr>
      <vt:lpstr>SimSun</vt:lpstr>
      <vt:lpstr>Wingdings</vt:lpstr>
      <vt:lpstr>Arial</vt:lpstr>
      <vt:lpstr>Calibri</vt:lpstr>
      <vt:lpstr>Calibri</vt:lpstr>
      <vt:lpstr>標楷體</vt:lpstr>
      <vt:lpstr>Wingdings</vt:lpstr>
      <vt:lpstr>Microsoft YaHei</vt:lpstr>
      <vt:lpstr>Arial Unicode MS</vt:lpstr>
      <vt:lpstr>Office 佈景主題</vt:lpstr>
      <vt:lpstr>NYCU Generative Artificial Intelligence Homework 4 - Crawling Releases</vt:lpstr>
      <vt:lpstr>Outline</vt:lpstr>
      <vt:lpstr>目標</vt:lpstr>
      <vt:lpstr>Crawl</vt:lpstr>
      <vt:lpstr>Crawl</vt:lpstr>
      <vt:lpstr>Crawl</vt:lpstr>
      <vt:lpstr>Crawl</vt:lpstr>
      <vt:lpstr>Crawl</vt:lpstr>
      <vt:lpstr>Push</vt:lpstr>
      <vt:lpstr>Push</vt:lpstr>
      <vt:lpstr>Push</vt:lpstr>
      <vt:lpstr>Push</vt:lpstr>
      <vt:lpstr>Popular</vt:lpstr>
      <vt:lpstr>Popular</vt:lpstr>
      <vt:lpstr>Popular</vt:lpstr>
      <vt:lpstr>Keyword</vt:lpstr>
      <vt:lpstr>Keyword</vt:lpstr>
      <vt:lpstr>Keyword</vt:lpstr>
      <vt:lpstr>Keyword</vt:lpstr>
      <vt:lpstr>繳交內容</vt:lpstr>
      <vt:lpstr>評分</vt:lpstr>
      <vt:lpstr>比對工具</vt:lpstr>
      <vt:lpstr>Note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Peer review</dc:title>
  <dc:creator/>
  <cp:lastModifiedBy>林彥宇</cp:lastModifiedBy>
  <cp:revision>214</cp:revision>
  <dcterms:created xsi:type="dcterms:W3CDTF">2025-09-09T23:57:00Z</dcterms:created>
  <dcterms:modified xsi:type="dcterms:W3CDTF">2026-05-05T00:55:40Z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48BBD419EE574E85ACC9266D6C4B6D4E_12</vt:lpwstr>
  </property>
  <property fmtid="{D5CDD505-2E9C-101B-9397-08002B2CF9AE}" pid="3" name="KSOProductBuildVer">
    <vt:lpwstr>1033-12.1.0.25862</vt:lpwstr>
  </property>
</Properties>
</file>